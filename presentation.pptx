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2" r:id="rId4"/>
    <p:sldId id="273" r:id="rId5"/>
    <p:sldId id="276" r:id="rId6"/>
    <p:sldId id="274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7" r:id="rId16"/>
    <p:sldId id="269" r:id="rId17"/>
    <p:sldId id="279" r:id="rId18"/>
    <p:sldId id="278" r:id="rId19"/>
    <p:sldId id="270" r:id="rId20"/>
    <p:sldId id="28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D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7"/>
    <p:restoredTop sz="91433"/>
  </p:normalViewPr>
  <p:slideViewPr>
    <p:cSldViewPr snapToGrid="0" snapToObjects="1">
      <p:cViewPr varScale="1">
        <p:scale>
          <a:sx n="107" d="100"/>
          <a:sy n="107" d="100"/>
        </p:scale>
        <p:origin x="568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23D3EE"/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600" b="1" dirty="0">
                <a:solidFill>
                  <a:srgbClr val="23D3EE"/>
                </a:solidFill>
              </a:rPr>
              <a:t>페이지 크기에 </a:t>
            </a:r>
            <a:r>
              <a:rPr lang="ko-KR" altLang="en-US" sz="1600" b="1" baseline="0" dirty="0">
                <a:solidFill>
                  <a:srgbClr val="23D3EE"/>
                </a:solidFill>
              </a:rPr>
              <a:t>따른 응답시간 변화</a:t>
            </a:r>
            <a:endParaRPr lang="ko-KR" altLang="en-US" sz="1600" b="1" dirty="0">
              <a:solidFill>
                <a:srgbClr val="23D3EE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23D3EE"/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(Raw)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30</c:v>
                </c:pt>
                <c:pt idx="1">
                  <c:v>60</c:v>
                </c:pt>
                <c:pt idx="2">
                  <c:v>90</c:v>
                </c:pt>
                <c:pt idx="3">
                  <c:v>120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2235</c:v>
                </c:pt>
                <c:pt idx="1">
                  <c:v>4147</c:v>
                </c:pt>
                <c:pt idx="2">
                  <c:v>6102</c:v>
                </c:pt>
                <c:pt idx="3">
                  <c:v>7997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1D-EB4E-A54A-831E833B85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(Enc)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30</c:v>
                </c:pt>
                <c:pt idx="1">
                  <c:v>60</c:v>
                </c:pt>
                <c:pt idx="2">
                  <c:v>90</c:v>
                </c:pt>
                <c:pt idx="3">
                  <c:v>120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2607</c:v>
                </c:pt>
                <c:pt idx="1">
                  <c:v>4259</c:v>
                </c:pt>
                <c:pt idx="2">
                  <c:v>6153</c:v>
                </c:pt>
                <c:pt idx="3">
                  <c:v>8160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1D-EB4E-A54A-831E833B85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Proposed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30</c:v>
                </c:pt>
                <c:pt idx="1">
                  <c:v>60</c:v>
                </c:pt>
                <c:pt idx="2">
                  <c:v>90</c:v>
                </c:pt>
                <c:pt idx="3">
                  <c:v>120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276</c:v>
                </c:pt>
                <c:pt idx="1">
                  <c:v>315</c:v>
                </c:pt>
                <c:pt idx="2">
                  <c:v>348</c:v>
                </c:pt>
                <c:pt idx="3">
                  <c:v>402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A1D-EB4E-A54A-831E833B85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3427327"/>
        <c:axId val="143430463"/>
      </c:barChart>
      <c:catAx>
        <c:axId val="143427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3430463"/>
        <c:crosses val="autoZero"/>
        <c:auto val="1"/>
        <c:lblAlgn val="ctr"/>
        <c:lblOffset val="100"/>
        <c:noMultiLvlLbl val="0"/>
      </c:catAx>
      <c:valAx>
        <c:axId val="143430463"/>
        <c:scaling>
          <c:orientation val="minMax"/>
          <c:max val="1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34273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23D3EE"/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600" b="1" dirty="0">
                <a:solidFill>
                  <a:srgbClr val="23D3EE"/>
                </a:solidFill>
              </a:rPr>
              <a:t>DI</a:t>
            </a:r>
            <a:r>
              <a:rPr lang="ko-KR" altLang="en-US" sz="1600" b="1" baseline="0" dirty="0">
                <a:solidFill>
                  <a:srgbClr val="23D3EE"/>
                </a:solidFill>
              </a:rPr>
              <a:t> 수에 따른 응답시간 변화</a:t>
            </a:r>
            <a:endParaRPr lang="ko-KR" altLang="en-US" sz="1600" b="1" dirty="0">
              <a:solidFill>
                <a:srgbClr val="23D3EE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23D3EE"/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(Raw)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128</c:v>
                </c:pt>
                <c:pt idx="1">
                  <c:v>256</c:v>
                </c:pt>
                <c:pt idx="2">
                  <c:v>512</c:v>
                </c:pt>
                <c:pt idx="3">
                  <c:v>1024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2242</c:v>
                </c:pt>
                <c:pt idx="1">
                  <c:v>2309</c:v>
                </c:pt>
                <c:pt idx="2">
                  <c:v>2360</c:v>
                </c:pt>
                <c:pt idx="3">
                  <c:v>2602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76-E940-9C2F-0EFCC3406A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(Enc)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128</c:v>
                </c:pt>
                <c:pt idx="1">
                  <c:v>256</c:v>
                </c:pt>
                <c:pt idx="2">
                  <c:v>512</c:v>
                </c:pt>
                <c:pt idx="3">
                  <c:v>1024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2405</c:v>
                </c:pt>
                <c:pt idx="1">
                  <c:v>2401</c:v>
                </c:pt>
                <c:pt idx="2">
                  <c:v>2566</c:v>
                </c:pt>
                <c:pt idx="3">
                  <c:v>2630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976-E940-9C2F-0EFCC3406A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Proposed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Sheet1!$A$2:$A$5</c:f>
              <c:numCache>
                <c:formatCode>General</c:formatCode>
                <c:ptCount val="4"/>
                <c:pt idx="0">
                  <c:v>128</c:v>
                </c:pt>
                <c:pt idx="1">
                  <c:v>256</c:v>
                </c:pt>
                <c:pt idx="2">
                  <c:v>512</c:v>
                </c:pt>
                <c:pt idx="3">
                  <c:v>1024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315</c:v>
                </c:pt>
                <c:pt idx="1">
                  <c:v>276</c:v>
                </c:pt>
                <c:pt idx="2">
                  <c:v>281</c:v>
                </c:pt>
                <c:pt idx="3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976-E940-9C2F-0EFCC3406A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3427327"/>
        <c:axId val="143430463"/>
      </c:barChart>
      <c:catAx>
        <c:axId val="143427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3430463"/>
        <c:crosses val="autoZero"/>
        <c:auto val="1"/>
        <c:lblAlgn val="ctr"/>
        <c:lblOffset val="100"/>
        <c:noMultiLvlLbl val="0"/>
      </c:catAx>
      <c:valAx>
        <c:axId val="143430463"/>
        <c:scaling>
          <c:orientation val="minMax"/>
          <c:max val="4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34273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18CF8"/>
                </a:solidFill>
                <a:latin typeface="Apple SD Gothic Neo"/>
              </a:defRPr>
            </a:pPr>
            <a:r>
              <a:t>MASTER'S DEGREE THESIS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Apple SD Gothic Neo"/>
              </a:defRPr>
            </a:pPr>
            <a:r>
              <a:rPr dirty="0" err="1"/>
              <a:t>zk</a:t>
            </a:r>
            <a:r>
              <a:rPr dirty="0"/>
              <a:t>-SNARK </a:t>
            </a:r>
            <a:r>
              <a:rPr dirty="0" err="1"/>
              <a:t>기반</a:t>
            </a:r>
            <a:r>
              <a:rPr dirty="0"/>
              <a:t>, </a:t>
            </a:r>
            <a:r>
              <a:rPr dirty="0" err="1"/>
              <a:t>프라이버시를</a:t>
            </a:r>
            <a:r>
              <a:rPr dirty="0"/>
              <a:t> </a:t>
            </a:r>
            <a:r>
              <a:rPr dirty="0" err="1"/>
              <a:t>보존하는</a:t>
            </a:r>
            <a:br>
              <a:rPr dirty="0"/>
            </a:br>
            <a:r>
              <a:rPr dirty="0" err="1"/>
              <a:t>수치형</a:t>
            </a:r>
            <a:r>
              <a:rPr dirty="0"/>
              <a:t> </a:t>
            </a:r>
            <a:r>
              <a:rPr dirty="0" err="1"/>
              <a:t>의료</a:t>
            </a:r>
            <a:r>
              <a:rPr dirty="0"/>
              <a:t> </a:t>
            </a:r>
            <a:r>
              <a:rPr dirty="0" err="1"/>
              <a:t>데이터에</a:t>
            </a:r>
            <a:r>
              <a:rPr dirty="0"/>
              <a:t> </a:t>
            </a:r>
            <a:r>
              <a:rPr dirty="0" err="1"/>
              <a:t>대한</a:t>
            </a:r>
            <a:r>
              <a:rPr dirty="0"/>
              <a:t> </a:t>
            </a:r>
            <a:r>
              <a:rPr dirty="0" err="1"/>
              <a:t>증명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 </a:t>
            </a:r>
            <a:r>
              <a:rPr dirty="0" err="1"/>
              <a:t>시스템</a:t>
            </a:r>
            <a:endParaRPr dirty="0"/>
          </a:p>
          <a:p>
            <a:pPr>
              <a:spcBef>
                <a:spcPts val="1200"/>
              </a:spcBef>
              <a:defRPr sz="1700">
                <a:solidFill>
                  <a:srgbClr val="22D3EE"/>
                </a:solidFill>
                <a:latin typeface="Apple SD Gothic Neo"/>
              </a:defRPr>
            </a:pPr>
            <a:r>
              <a:rPr dirty="0"/>
              <a:t>Privacy-Preserving Proof Search System for Numerical Medical Data based on </a:t>
            </a:r>
            <a:r>
              <a:rPr dirty="0" err="1"/>
              <a:t>zk</a:t>
            </a:r>
            <a:r>
              <a:rPr dirty="0"/>
              <a:t>-SNARK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3281668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pple SD Gothic Neo"/>
              </a:defRPr>
            </a:pPr>
            <a:r>
              <a:rPr dirty="0" err="1">
                <a:latin typeface="+mn-ea"/>
              </a:rPr>
              <a:t>서강대학교</a:t>
            </a:r>
            <a:r>
              <a:rPr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대학원 </a:t>
            </a:r>
            <a:r>
              <a:rPr dirty="0" err="1">
                <a:latin typeface="+mn-ea"/>
              </a:rPr>
              <a:t>컴퓨터공학과</a:t>
            </a:r>
            <a:endParaRPr dirty="0">
              <a:latin typeface="+mn-ea"/>
            </a:endParaRPr>
          </a:p>
          <a:p>
            <a:pPr>
              <a:spcBef>
                <a:spcPts val="600"/>
              </a:spcBef>
              <a:defRPr sz="1500" b="1">
                <a:solidFill>
                  <a:srgbClr val="F8FAFC"/>
                </a:solidFill>
                <a:latin typeface="Apple SD Gothic Neo"/>
              </a:defRPr>
            </a:pPr>
            <a:r>
              <a:rPr dirty="0" err="1">
                <a:latin typeface="+mn-ea"/>
              </a:rPr>
              <a:t>발표자</a:t>
            </a:r>
            <a:r>
              <a:rPr dirty="0">
                <a:latin typeface="+mn-ea"/>
              </a:rPr>
              <a:t> : </a:t>
            </a:r>
            <a:r>
              <a:rPr dirty="0" err="1">
                <a:latin typeface="+mn-ea"/>
              </a:rPr>
              <a:t>황보진우</a:t>
            </a:r>
            <a:r>
              <a:rPr dirty="0">
                <a:latin typeface="+mn-ea"/>
              </a:rPr>
              <a:t> (</a:t>
            </a:r>
            <a:r>
              <a:rPr dirty="0" err="1">
                <a:latin typeface="+mn-ea"/>
              </a:rPr>
              <a:t>지도교수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박수용</a:t>
            </a:r>
            <a:r>
              <a:rPr dirty="0">
                <a:latin typeface="+mn-ea"/>
              </a:rPr>
              <a:t>)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Apple SD Gothic Neo"/>
              </a:defRPr>
            </a:pPr>
            <a:r>
              <a:rPr dirty="0">
                <a:latin typeface="+mn-ea"/>
              </a:rPr>
              <a:t>2026년 6월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16</a:t>
            </a:r>
            <a:r>
              <a:rPr lang="ko-KR" altLang="en-US" dirty="0">
                <a:latin typeface="+mn-ea"/>
              </a:rPr>
              <a:t>일</a:t>
            </a:r>
            <a:endParaRPr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1207818"/>
            <a:ext cx="10728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ple SD Gothic Neo"/>
              </a:defRPr>
            </a:pPr>
            <a:r>
              <a:rPr lang="ko-KR" altLang="en-US" dirty="0"/>
              <a:t>발표 순서</a:t>
            </a: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F7A092-FE2E-5019-AD26-15B265473812}"/>
              </a:ext>
            </a:extLst>
          </p:cNvPr>
          <p:cNvSpPr txBox="1"/>
          <p:nvPr/>
        </p:nvSpPr>
        <p:spPr>
          <a:xfrm>
            <a:off x="1400536" y="2003530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23D3EE"/>
                </a:solidFill>
              </a:rPr>
              <a:t>1.</a:t>
            </a:r>
            <a:r>
              <a:rPr kumimoji="1" lang="ko-KR" altLang="en-US" b="1" dirty="0">
                <a:solidFill>
                  <a:srgbClr val="23D3EE"/>
                </a:solidFill>
              </a:rPr>
              <a:t> 서</a:t>
            </a:r>
            <a:r>
              <a:rPr kumimoji="1" lang="en-US" altLang="ko-KR" b="1" dirty="0">
                <a:solidFill>
                  <a:srgbClr val="23D3EE"/>
                </a:solidFill>
              </a:rPr>
              <a:t> </a:t>
            </a:r>
            <a:r>
              <a:rPr kumimoji="1" lang="ko-KR" altLang="en-US" b="1" dirty="0">
                <a:solidFill>
                  <a:srgbClr val="23D3EE"/>
                </a:solidFill>
              </a:rPr>
              <a:t>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6EC278-B2F2-F40A-859E-DAC7495C92E0}"/>
              </a:ext>
            </a:extLst>
          </p:cNvPr>
          <p:cNvSpPr txBox="1"/>
          <p:nvPr/>
        </p:nvSpPr>
        <p:spPr>
          <a:xfrm>
            <a:off x="1400536" y="2674165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23D3EE"/>
                </a:solidFill>
              </a:rPr>
              <a:t>2.</a:t>
            </a:r>
            <a:r>
              <a:rPr kumimoji="1" lang="ko-KR" altLang="en-US" b="1" dirty="0">
                <a:solidFill>
                  <a:srgbClr val="23D3EE"/>
                </a:solidFill>
              </a:rPr>
              <a:t> 관</a:t>
            </a:r>
            <a:r>
              <a:rPr kumimoji="1" lang="en-US" altLang="ko-KR" b="1" dirty="0">
                <a:solidFill>
                  <a:srgbClr val="23D3EE"/>
                </a:solidFill>
              </a:rPr>
              <a:t> </a:t>
            </a:r>
            <a:r>
              <a:rPr kumimoji="1" lang="ko-KR" altLang="en-US" b="1" dirty="0" err="1">
                <a:solidFill>
                  <a:srgbClr val="23D3EE"/>
                </a:solidFill>
              </a:rPr>
              <a:t>련</a:t>
            </a:r>
            <a:r>
              <a:rPr kumimoji="1" lang="en-US" altLang="ko-KR" b="1" dirty="0">
                <a:solidFill>
                  <a:srgbClr val="23D3EE"/>
                </a:solidFill>
              </a:rPr>
              <a:t> </a:t>
            </a:r>
            <a:r>
              <a:rPr kumimoji="1" lang="ko-KR" altLang="en-US" b="1" dirty="0">
                <a:solidFill>
                  <a:srgbClr val="23D3EE"/>
                </a:solidFill>
              </a:rPr>
              <a:t>연</a:t>
            </a:r>
            <a:r>
              <a:rPr kumimoji="1" lang="en-US" altLang="ko-KR" b="1" dirty="0">
                <a:solidFill>
                  <a:srgbClr val="23D3EE"/>
                </a:solidFill>
              </a:rPr>
              <a:t> </a:t>
            </a:r>
            <a:r>
              <a:rPr kumimoji="1" lang="ko-KR" altLang="en-US" b="1" dirty="0">
                <a:solidFill>
                  <a:srgbClr val="23D3EE"/>
                </a:solidFill>
              </a:rPr>
              <a:t>구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ECFE58-83BA-256C-3ADE-1ACEA3C2A541}"/>
              </a:ext>
            </a:extLst>
          </p:cNvPr>
          <p:cNvSpPr txBox="1"/>
          <p:nvPr/>
        </p:nvSpPr>
        <p:spPr>
          <a:xfrm>
            <a:off x="1400536" y="3347440"/>
            <a:ext cx="1834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23D3EE"/>
                </a:solidFill>
              </a:rPr>
              <a:t>3.</a:t>
            </a:r>
            <a:r>
              <a:rPr kumimoji="1" lang="ko-KR" altLang="en-US" b="1" dirty="0">
                <a:solidFill>
                  <a:srgbClr val="23D3EE"/>
                </a:solidFill>
              </a:rPr>
              <a:t> 제</a:t>
            </a:r>
            <a:r>
              <a:rPr kumimoji="1" lang="en-US" altLang="ko-KR" b="1" dirty="0">
                <a:solidFill>
                  <a:srgbClr val="23D3EE"/>
                </a:solidFill>
              </a:rPr>
              <a:t> </a:t>
            </a:r>
            <a:r>
              <a:rPr kumimoji="1" lang="ko-KR" altLang="en-US" b="1" dirty="0">
                <a:solidFill>
                  <a:srgbClr val="23D3EE"/>
                </a:solidFill>
              </a:rPr>
              <a:t>안 </a:t>
            </a:r>
            <a:r>
              <a:rPr kumimoji="1" lang="en-US" altLang="ko-KR" b="1" dirty="0">
                <a:solidFill>
                  <a:srgbClr val="23D3EE"/>
                </a:solidFill>
              </a:rPr>
              <a:t> </a:t>
            </a:r>
            <a:r>
              <a:rPr kumimoji="1" lang="ko-KR" altLang="en-US" b="1" dirty="0">
                <a:solidFill>
                  <a:srgbClr val="23D3EE"/>
                </a:solidFill>
              </a:rPr>
              <a:t>시</a:t>
            </a:r>
            <a:r>
              <a:rPr kumimoji="1" lang="en-US" altLang="ko-KR" b="1" dirty="0">
                <a:solidFill>
                  <a:srgbClr val="23D3EE"/>
                </a:solidFill>
              </a:rPr>
              <a:t> </a:t>
            </a:r>
            <a:r>
              <a:rPr kumimoji="1" lang="ko-KR" altLang="en-US" b="1" dirty="0" err="1">
                <a:solidFill>
                  <a:srgbClr val="23D3EE"/>
                </a:solidFill>
              </a:rPr>
              <a:t>스</a:t>
            </a:r>
            <a:r>
              <a:rPr kumimoji="1" lang="en-US" altLang="ko-KR" b="1" dirty="0">
                <a:solidFill>
                  <a:srgbClr val="23D3EE"/>
                </a:solidFill>
              </a:rPr>
              <a:t> </a:t>
            </a:r>
            <a:r>
              <a:rPr kumimoji="1" lang="ko-KR" altLang="en-US" b="1" dirty="0">
                <a:solidFill>
                  <a:srgbClr val="23D3EE"/>
                </a:solidFill>
              </a:rPr>
              <a:t>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E0B8CB-5ECB-680A-2ECC-5AA5878B3C15}"/>
              </a:ext>
            </a:extLst>
          </p:cNvPr>
          <p:cNvSpPr txBox="1"/>
          <p:nvPr/>
        </p:nvSpPr>
        <p:spPr>
          <a:xfrm>
            <a:off x="1400536" y="4020715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23D3EE"/>
                </a:solidFill>
              </a:rPr>
              <a:t>4.</a:t>
            </a:r>
            <a:r>
              <a:rPr kumimoji="1" lang="ko-KR" altLang="en-US" b="1" dirty="0">
                <a:solidFill>
                  <a:srgbClr val="23D3EE"/>
                </a:solidFill>
              </a:rPr>
              <a:t> 실</a:t>
            </a:r>
            <a:r>
              <a:rPr kumimoji="1" lang="en-US" altLang="ko-KR" b="1" dirty="0">
                <a:solidFill>
                  <a:srgbClr val="23D3EE"/>
                </a:solidFill>
              </a:rPr>
              <a:t> </a:t>
            </a:r>
            <a:r>
              <a:rPr kumimoji="1" lang="ko-KR" altLang="en-US" b="1" dirty="0" err="1">
                <a:solidFill>
                  <a:srgbClr val="23D3EE"/>
                </a:solidFill>
              </a:rPr>
              <a:t>험</a:t>
            </a:r>
            <a:r>
              <a:rPr kumimoji="1" lang="en-US" altLang="ko-KR" b="1" dirty="0">
                <a:solidFill>
                  <a:srgbClr val="23D3EE"/>
                </a:solidFill>
              </a:rPr>
              <a:t> </a:t>
            </a:r>
            <a:r>
              <a:rPr kumimoji="1" lang="ko-KR" altLang="en-US" b="1" dirty="0">
                <a:solidFill>
                  <a:srgbClr val="23D3EE"/>
                </a:solidFill>
              </a:rPr>
              <a:t> 결</a:t>
            </a:r>
            <a:r>
              <a:rPr kumimoji="1" lang="en-US" altLang="ko-KR" b="1" dirty="0">
                <a:solidFill>
                  <a:srgbClr val="23D3EE"/>
                </a:solidFill>
              </a:rPr>
              <a:t> </a:t>
            </a:r>
            <a:r>
              <a:rPr kumimoji="1" lang="ko-KR" altLang="en-US" b="1" dirty="0">
                <a:solidFill>
                  <a:srgbClr val="23D3EE"/>
                </a:solidFill>
              </a:rPr>
              <a:t>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9F111-AD94-17C1-2A83-B035808DEC71}"/>
              </a:ext>
            </a:extLst>
          </p:cNvPr>
          <p:cNvSpPr txBox="1"/>
          <p:nvPr/>
        </p:nvSpPr>
        <p:spPr>
          <a:xfrm>
            <a:off x="1400536" y="5364625"/>
            <a:ext cx="93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23D3EE"/>
                </a:solidFill>
              </a:rPr>
              <a:t>6.</a:t>
            </a:r>
            <a:r>
              <a:rPr kumimoji="1" lang="ko-KR" altLang="en-US" b="1" dirty="0">
                <a:solidFill>
                  <a:srgbClr val="23D3EE"/>
                </a:solidFill>
              </a:rPr>
              <a:t> 결</a:t>
            </a:r>
            <a:r>
              <a:rPr kumimoji="1" lang="en-US" altLang="ko-KR" b="1" dirty="0">
                <a:solidFill>
                  <a:srgbClr val="23D3EE"/>
                </a:solidFill>
              </a:rPr>
              <a:t> </a:t>
            </a:r>
            <a:r>
              <a:rPr kumimoji="1" lang="ko-KR" altLang="en-US" b="1" dirty="0">
                <a:solidFill>
                  <a:srgbClr val="23D3EE"/>
                </a:solidFill>
              </a:rPr>
              <a:t>론</a:t>
            </a:r>
          </a:p>
        </p:txBody>
      </p: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45281551-0F30-CBD0-DC0D-CE1DE4AF159A}"/>
              </a:ext>
            </a:extLst>
          </p:cNvPr>
          <p:cNvCxnSpPr>
            <a:cxnSpLocks/>
          </p:cNvCxnSpPr>
          <p:nvPr/>
        </p:nvCxnSpPr>
        <p:spPr>
          <a:xfrm>
            <a:off x="731520" y="1805651"/>
            <a:ext cx="961856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BD909AD-968F-6EA5-905B-2C0BB15F7AE8}"/>
              </a:ext>
            </a:extLst>
          </p:cNvPr>
          <p:cNvSpPr txBox="1"/>
          <p:nvPr/>
        </p:nvSpPr>
        <p:spPr>
          <a:xfrm>
            <a:off x="1400535" y="4693990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23D3EE"/>
                </a:solidFill>
              </a:rPr>
              <a:t>5.</a:t>
            </a:r>
            <a:r>
              <a:rPr kumimoji="1" lang="ko-KR" altLang="en-US" b="1" dirty="0">
                <a:solidFill>
                  <a:srgbClr val="23D3EE"/>
                </a:solidFill>
              </a:rPr>
              <a:t> 추 가 분 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DBD4CE-742A-A44C-7562-B52454BB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361B67-7BBE-FF5C-1F34-AEA9BEBA8144}"/>
              </a:ext>
            </a:extLst>
          </p:cNvPr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ple SD Gothic Neo"/>
              </a:defRPr>
            </a:pPr>
            <a:r>
              <a:t>01.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5B5683-B552-B14B-B101-05A316CE49B8}"/>
              </a:ext>
            </a:extLst>
          </p:cNvPr>
          <p:cNvSpPr txBox="1"/>
          <p:nvPr/>
        </p:nvSpPr>
        <p:spPr>
          <a:xfrm>
            <a:off x="731520" y="594360"/>
            <a:ext cx="10728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dirty="0"/>
              <a:t>1.</a:t>
            </a:r>
            <a:r>
              <a:rPr lang="ko-KR" altLang="en-US" dirty="0"/>
              <a:t> 서론</a:t>
            </a:r>
            <a:r>
              <a:rPr lang="en-US" altLang="ko-KR" dirty="0"/>
              <a:t>:</a:t>
            </a:r>
            <a:r>
              <a:rPr lang="ko-KR" altLang="en-US" dirty="0"/>
              <a:t> 연구 배경</a:t>
            </a: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6D1B3-8B5E-6592-686F-A753462C9621}"/>
              </a:ext>
            </a:extLst>
          </p:cNvPr>
          <p:cNvSpPr txBox="1"/>
          <p:nvPr/>
        </p:nvSpPr>
        <p:spPr>
          <a:xfrm>
            <a:off x="3423520" y="4352330"/>
            <a:ext cx="564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chemeClr val="bg1"/>
                </a:solidFill>
              </a:rPr>
              <a:t>데이터 최소화</a:t>
            </a:r>
            <a:r>
              <a:rPr kumimoji="1" lang="en-US" altLang="ko-KR" sz="2400" b="1" dirty="0">
                <a:solidFill>
                  <a:schemeClr val="bg1"/>
                </a:solidFill>
              </a:rPr>
              <a:t>(Data Minimization)</a:t>
            </a:r>
            <a:r>
              <a:rPr kumimoji="1" lang="ko-KR" altLang="en-US" sz="2400" b="1" dirty="0">
                <a:solidFill>
                  <a:schemeClr val="bg1"/>
                </a:solidFill>
              </a:rPr>
              <a:t>의 원칙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C98E6A78-6537-C6FE-D794-A3B4F66A7FDE}"/>
              </a:ext>
            </a:extLst>
          </p:cNvPr>
          <p:cNvSpPr/>
          <p:nvPr/>
        </p:nvSpPr>
        <p:spPr>
          <a:xfrm>
            <a:off x="1878787" y="2245489"/>
            <a:ext cx="2789498" cy="1183511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6E9E94-99E7-6AEC-A9F7-A7EC749604B7}"/>
              </a:ext>
            </a:extLst>
          </p:cNvPr>
          <p:cNvSpPr txBox="1"/>
          <p:nvPr/>
        </p:nvSpPr>
        <p:spPr>
          <a:xfrm>
            <a:off x="2238637" y="2441815"/>
            <a:ext cx="2069797" cy="79085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1600" dirty="0">
                <a:solidFill>
                  <a:schemeClr val="bg1"/>
                </a:solidFill>
              </a:rPr>
              <a:t>14</a:t>
            </a:r>
            <a:r>
              <a:rPr kumimoji="1" lang="ko-KR" altLang="en-US" sz="1600" dirty="0">
                <a:solidFill>
                  <a:schemeClr val="bg1"/>
                </a:solidFill>
              </a:rPr>
              <a:t>년 연속</a:t>
            </a:r>
            <a:endParaRPr kumimoji="1" lang="en-US" altLang="ko-KR" sz="16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ko-KR" altLang="en-US" sz="1600" dirty="0">
                <a:solidFill>
                  <a:schemeClr val="bg1"/>
                </a:solidFill>
              </a:rPr>
              <a:t>데이터 유출 피해 </a:t>
            </a:r>
            <a:r>
              <a:rPr kumimoji="1" lang="en-US" altLang="ko-KR" sz="1600" dirty="0">
                <a:solidFill>
                  <a:schemeClr val="bg1"/>
                </a:solidFill>
              </a:rPr>
              <a:t>1</a:t>
            </a:r>
            <a:r>
              <a:rPr kumimoji="1" lang="ko-KR" altLang="en-US" sz="1600" dirty="0">
                <a:solidFill>
                  <a:schemeClr val="bg1"/>
                </a:solidFill>
              </a:rPr>
              <a:t>위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3932D77D-9942-42C9-471E-305C05651A83}"/>
              </a:ext>
            </a:extLst>
          </p:cNvPr>
          <p:cNvSpPr/>
          <p:nvPr/>
        </p:nvSpPr>
        <p:spPr>
          <a:xfrm>
            <a:off x="4851084" y="2245489"/>
            <a:ext cx="2789498" cy="1183511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368206-666F-FF07-1EB3-7CB29FD6A9EF}"/>
              </a:ext>
            </a:extLst>
          </p:cNvPr>
          <p:cNvSpPr txBox="1"/>
          <p:nvPr/>
        </p:nvSpPr>
        <p:spPr>
          <a:xfrm>
            <a:off x="5404096" y="2442809"/>
            <a:ext cx="1683474" cy="79085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600" dirty="0">
                <a:solidFill>
                  <a:schemeClr val="bg1"/>
                </a:solidFill>
              </a:rPr>
              <a:t>평균 손해액</a:t>
            </a:r>
            <a:endParaRPr kumimoji="1" lang="en-US" altLang="ko-KR" sz="16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en-US" altLang="ko-KR" sz="1600" dirty="0">
                <a:solidFill>
                  <a:schemeClr val="bg1"/>
                </a:solidFill>
              </a:rPr>
              <a:t>742</a:t>
            </a:r>
            <a:r>
              <a:rPr kumimoji="1" lang="ko-KR" altLang="en-US" sz="1600" dirty="0">
                <a:solidFill>
                  <a:schemeClr val="bg1"/>
                </a:solidFill>
              </a:rPr>
              <a:t>만 달러</a:t>
            </a:r>
            <a:r>
              <a:rPr kumimoji="1" lang="en-US" altLang="ko-KR" sz="1600" dirty="0">
                <a:solidFill>
                  <a:schemeClr val="bg1"/>
                </a:solidFill>
              </a:rPr>
              <a:t>(USD)</a:t>
            </a:r>
            <a:endParaRPr kumimoji="1"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0F49BAEA-7ABD-166D-F656-AB506374337E}"/>
              </a:ext>
            </a:extLst>
          </p:cNvPr>
          <p:cNvSpPr/>
          <p:nvPr/>
        </p:nvSpPr>
        <p:spPr>
          <a:xfrm>
            <a:off x="7823381" y="2245489"/>
            <a:ext cx="2789498" cy="1183511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8C48C3-2B90-0F2C-F226-C4E7CDAFB25A}"/>
              </a:ext>
            </a:extLst>
          </p:cNvPr>
          <p:cNvSpPr txBox="1"/>
          <p:nvPr/>
        </p:nvSpPr>
        <p:spPr>
          <a:xfrm>
            <a:off x="8463757" y="2441815"/>
            <a:ext cx="1508746" cy="79284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600" dirty="0">
                <a:solidFill>
                  <a:schemeClr val="bg1"/>
                </a:solidFill>
              </a:rPr>
              <a:t>평균 수습 기간</a:t>
            </a:r>
            <a:endParaRPr kumimoji="1" lang="en-US" altLang="ko-KR" sz="16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en-US" altLang="ko-KR" sz="1600" dirty="0">
                <a:solidFill>
                  <a:schemeClr val="bg1"/>
                </a:solidFill>
              </a:rPr>
              <a:t>279</a:t>
            </a:r>
            <a:r>
              <a:rPr kumimoji="1" lang="ko-KR" altLang="en-US" sz="1600" dirty="0">
                <a:solidFill>
                  <a:schemeClr val="bg1"/>
                </a:solidFill>
              </a:rPr>
              <a:t>일</a:t>
            </a:r>
            <a:endParaRPr kumimoji="1" lang="en-US" altLang="ko-KR" sz="16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C2509F-A69E-41E9-36AD-6B003431ABE5}"/>
              </a:ext>
            </a:extLst>
          </p:cNvPr>
          <p:cNvSpPr txBox="1"/>
          <p:nvPr/>
        </p:nvSpPr>
        <p:spPr>
          <a:xfrm>
            <a:off x="5027285" y="1483502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>
                <a:solidFill>
                  <a:schemeClr val="bg1"/>
                </a:solidFill>
              </a:rPr>
              <a:t>의료 산업계의 현황</a:t>
            </a:r>
          </a:p>
        </p:txBody>
      </p:sp>
      <p:sp>
        <p:nvSpPr>
          <p:cNvPr id="22" name="아래쪽 화살표[D] 21">
            <a:extLst>
              <a:ext uri="{FF2B5EF4-FFF2-40B4-BE49-F238E27FC236}">
                <a16:creationId xmlns:a16="http://schemas.microsoft.com/office/drawing/2014/main" id="{E0B1554A-5AD8-773A-7ECD-1ED689FE8173}"/>
              </a:ext>
            </a:extLst>
          </p:cNvPr>
          <p:cNvSpPr/>
          <p:nvPr/>
        </p:nvSpPr>
        <p:spPr>
          <a:xfrm>
            <a:off x="6058632" y="3574594"/>
            <a:ext cx="319020" cy="632142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0719C5-E175-E18E-76E3-79A6134F6761}"/>
              </a:ext>
            </a:extLst>
          </p:cNvPr>
          <p:cNvSpPr txBox="1"/>
          <p:nvPr/>
        </p:nvSpPr>
        <p:spPr>
          <a:xfrm>
            <a:off x="1880865" y="1910662"/>
            <a:ext cx="73372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*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" altLang="ko-KR" sz="1200" dirty="0">
                <a:solidFill>
                  <a:schemeClr val="bg1"/>
                </a:solidFill>
              </a:rPr>
              <a:t>IBM and </a:t>
            </a:r>
            <a:r>
              <a:rPr lang="en" altLang="ko-KR" sz="1200" dirty="0" err="1">
                <a:solidFill>
                  <a:schemeClr val="bg1"/>
                </a:solidFill>
              </a:rPr>
              <a:t>Ponemon</a:t>
            </a:r>
            <a:r>
              <a:rPr lang="en" altLang="ko-KR" sz="1200" dirty="0">
                <a:solidFill>
                  <a:schemeClr val="bg1"/>
                </a:solidFill>
              </a:rPr>
              <a:t> Institute. Cost of a data breach report 2025: The ai oversight gap.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" altLang="ko-KR" sz="1200" dirty="0">
                <a:solidFill>
                  <a:schemeClr val="bg1"/>
                </a:solidFill>
              </a:rPr>
              <a:t>Technical report, IBM, 2025.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3CF9C5-B60C-D4D3-1F36-82F658650471}"/>
              </a:ext>
            </a:extLst>
          </p:cNvPr>
          <p:cNvSpPr txBox="1"/>
          <p:nvPr/>
        </p:nvSpPr>
        <p:spPr>
          <a:xfrm>
            <a:off x="1660473" y="4813995"/>
            <a:ext cx="9170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* </a:t>
            </a:r>
            <a:r>
              <a:rPr lang="en" altLang="ko-KR" sz="1200" dirty="0">
                <a:solidFill>
                  <a:schemeClr val="bg1"/>
                </a:solidFill>
              </a:rPr>
              <a:t>Eric Null; </a:t>
            </a:r>
            <a:r>
              <a:rPr lang="en" altLang="ko-KR" sz="1200" dirty="0" err="1">
                <a:solidFill>
                  <a:schemeClr val="bg1"/>
                </a:solidFill>
              </a:rPr>
              <a:t>Isedua</a:t>
            </a:r>
            <a:r>
              <a:rPr lang="en" altLang="ko-KR" sz="1200" dirty="0">
                <a:solidFill>
                  <a:schemeClr val="bg1"/>
                </a:solidFill>
              </a:rPr>
              <a:t> </a:t>
            </a:r>
            <a:r>
              <a:rPr lang="en" altLang="ko-KR" sz="1200" dirty="0" err="1">
                <a:solidFill>
                  <a:schemeClr val="bg1"/>
                </a:solidFill>
              </a:rPr>
              <a:t>Oribhabor</a:t>
            </a:r>
            <a:r>
              <a:rPr lang="en" altLang="ko-KR" sz="1200" dirty="0">
                <a:solidFill>
                  <a:schemeClr val="bg1"/>
                </a:solidFill>
              </a:rPr>
              <a:t>; </a:t>
            </a:r>
            <a:r>
              <a:rPr lang="en" altLang="ko-KR" sz="1200" dirty="0" err="1">
                <a:solidFill>
                  <a:schemeClr val="bg1"/>
                </a:solidFill>
              </a:rPr>
              <a:t>Willmary</a:t>
            </a:r>
            <a:r>
              <a:rPr lang="en" altLang="ko-KR" sz="1200" dirty="0">
                <a:solidFill>
                  <a:schemeClr val="bg1"/>
                </a:solidFill>
              </a:rPr>
              <a:t> Escoto. Data minimization: Key to protecting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" altLang="ko-KR" sz="1200" dirty="0">
                <a:solidFill>
                  <a:schemeClr val="bg1"/>
                </a:solidFill>
              </a:rPr>
              <a:t>privacy and reducing harm (three years under the </a:t>
            </a:r>
            <a:r>
              <a:rPr lang="en" altLang="ko-KR" sz="1200" dirty="0" err="1">
                <a:solidFill>
                  <a:schemeClr val="bg1"/>
                </a:solidFill>
              </a:rPr>
              <a:t>eu</a:t>
            </a:r>
            <a:r>
              <a:rPr lang="en" altLang="ko-KR" sz="1200" dirty="0">
                <a:solidFill>
                  <a:schemeClr val="bg1"/>
                </a:solidFill>
              </a:rPr>
              <a:t> </a:t>
            </a:r>
            <a:r>
              <a:rPr lang="en" altLang="ko-KR" sz="1200" dirty="0" err="1">
                <a:solidFill>
                  <a:schemeClr val="bg1"/>
                </a:solidFill>
              </a:rPr>
              <a:t>gdpr</a:t>
            </a:r>
            <a:r>
              <a:rPr lang="en" altLang="ko-KR" sz="1200" dirty="0">
                <a:solidFill>
                  <a:schemeClr val="bg1"/>
                </a:solidFill>
              </a:rPr>
              <a:t>). </a:t>
            </a:r>
          </a:p>
          <a:p>
            <a:r>
              <a:rPr lang="en" altLang="ko-KR" sz="1200" dirty="0">
                <a:solidFill>
                  <a:schemeClr val="bg1"/>
                </a:solidFill>
              </a:rPr>
              <a:t>Technical report, Access-Now, May 2021</a:t>
            </a:r>
            <a:endParaRPr kumimoji="1"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1D877A-64DA-79A7-D90A-4B5B9E3E00DE}"/>
              </a:ext>
            </a:extLst>
          </p:cNvPr>
          <p:cNvSpPr txBox="1"/>
          <p:nvPr/>
        </p:nvSpPr>
        <p:spPr>
          <a:xfrm>
            <a:off x="3674016" y="5458897"/>
            <a:ext cx="50882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solidFill>
                  <a:schemeClr val="bg1"/>
                </a:solidFill>
              </a:rPr>
              <a:t>데이터 최소화를 위한 대표적 기술</a:t>
            </a:r>
            <a:r>
              <a:rPr kumimoji="1" lang="en-US" altLang="ko-KR" dirty="0">
                <a:solidFill>
                  <a:schemeClr val="bg1"/>
                </a:solidFill>
              </a:rPr>
              <a:t>:</a:t>
            </a:r>
            <a:r>
              <a:rPr kumimoji="1" lang="ko-KR" altLang="en-US" sz="2000" b="1" dirty="0">
                <a:solidFill>
                  <a:schemeClr val="bg1"/>
                </a:solidFill>
              </a:rPr>
              <a:t> </a:t>
            </a:r>
            <a:r>
              <a:rPr kumimoji="1" lang="ko-KR" altLang="en-US" sz="2000" b="1" dirty="0" err="1">
                <a:solidFill>
                  <a:schemeClr val="bg1"/>
                </a:solidFill>
              </a:rPr>
              <a:t>영지식</a:t>
            </a:r>
            <a:r>
              <a:rPr kumimoji="1" lang="ko-KR" altLang="en-US" sz="2000" b="1" dirty="0">
                <a:solidFill>
                  <a:schemeClr val="bg1"/>
                </a:solidFill>
              </a:rPr>
              <a:t> 증명</a:t>
            </a:r>
          </a:p>
        </p:txBody>
      </p:sp>
    </p:spTree>
    <p:extLst>
      <p:ext uri="{BB962C8B-B14F-4D97-AF65-F5344CB8AC3E}">
        <p14:creationId xmlns:p14="http://schemas.microsoft.com/office/powerpoint/2010/main" val="2104475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63ABA1-473F-A71D-C39C-19DAF82A5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B5BDC8-BB45-8997-6051-B661BE1672E3}"/>
              </a:ext>
            </a:extLst>
          </p:cNvPr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ple SD Gothic Neo"/>
              </a:defRPr>
            </a:pPr>
            <a:r>
              <a:t>01.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472C38-3281-2FDD-7399-36357F6B4160}"/>
              </a:ext>
            </a:extLst>
          </p:cNvPr>
          <p:cNvSpPr txBox="1"/>
          <p:nvPr/>
        </p:nvSpPr>
        <p:spPr>
          <a:xfrm>
            <a:off x="731520" y="594360"/>
            <a:ext cx="10728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dirty="0"/>
              <a:t>1.</a:t>
            </a:r>
            <a:r>
              <a:rPr lang="ko-KR" altLang="en-US" dirty="0"/>
              <a:t> 서론</a:t>
            </a:r>
            <a:r>
              <a:rPr lang="en-US" altLang="ko-KR" dirty="0"/>
              <a:t>:</a:t>
            </a:r>
            <a:r>
              <a:rPr lang="ko-KR" altLang="en-US" dirty="0"/>
              <a:t> 연구 배경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26F670-5801-5D9C-0A58-50D3FC69A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408" y="1913054"/>
            <a:ext cx="5777230" cy="32985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E695E5-08AC-196F-ADF9-C11F26BFFBD3}"/>
              </a:ext>
            </a:extLst>
          </p:cNvPr>
          <p:cNvSpPr txBox="1"/>
          <p:nvPr/>
        </p:nvSpPr>
        <p:spPr>
          <a:xfrm>
            <a:off x="731520" y="1398787"/>
            <a:ext cx="4887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 err="1">
                <a:solidFill>
                  <a:schemeClr val="bg1"/>
                </a:solidFill>
              </a:rPr>
              <a:t>영지식</a:t>
            </a:r>
            <a:r>
              <a:rPr kumimoji="1" lang="ko-KR" altLang="en-US" b="1" dirty="0">
                <a:solidFill>
                  <a:schemeClr val="bg1"/>
                </a:solidFill>
              </a:rPr>
              <a:t> 증명을 활용한 데이터 거래 플랫폼 연구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2C165-0614-EA54-4BC0-8E2D8CF2A93F}"/>
              </a:ext>
            </a:extLst>
          </p:cNvPr>
          <p:cNvSpPr txBox="1"/>
          <p:nvPr/>
        </p:nvSpPr>
        <p:spPr>
          <a:xfrm>
            <a:off x="731520" y="5356508"/>
            <a:ext cx="70450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* </a:t>
            </a:r>
            <a:r>
              <a:rPr lang="en" altLang="ko-KR" sz="1200" dirty="0" err="1">
                <a:solidFill>
                  <a:schemeClr val="bg1"/>
                </a:solidFill>
              </a:rPr>
              <a:t>Jiheng</a:t>
            </a:r>
            <a:r>
              <a:rPr lang="en" altLang="ko-KR" sz="1200" dirty="0">
                <a:solidFill>
                  <a:schemeClr val="bg1"/>
                </a:solidFill>
              </a:rPr>
              <a:t> Gao; </a:t>
            </a:r>
            <a:r>
              <a:rPr lang="en" altLang="ko-KR" sz="1200" dirty="0" err="1">
                <a:solidFill>
                  <a:schemeClr val="bg1"/>
                </a:solidFill>
              </a:rPr>
              <a:t>Jingbo</a:t>
            </a:r>
            <a:r>
              <a:rPr lang="en" altLang="ko-KR" sz="1200" dirty="0">
                <a:solidFill>
                  <a:schemeClr val="bg1"/>
                </a:solidFill>
              </a:rPr>
              <a:t> Guan; </a:t>
            </a:r>
            <a:r>
              <a:rPr lang="en" altLang="ko-KR" sz="1200" dirty="0" err="1">
                <a:solidFill>
                  <a:schemeClr val="bg1"/>
                </a:solidFill>
              </a:rPr>
              <a:t>Jiangfeng</a:t>
            </a:r>
            <a:r>
              <a:rPr lang="en" altLang="ko-KR" sz="1200" dirty="0">
                <a:solidFill>
                  <a:schemeClr val="bg1"/>
                </a:solidFill>
              </a:rPr>
              <a:t> Xu. A scheme for privacy protection of medical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" altLang="ko-KR" sz="1200" dirty="0">
                <a:solidFill>
                  <a:schemeClr val="bg1"/>
                </a:solidFill>
              </a:rPr>
              <a:t>data based on blockchain.</a:t>
            </a:r>
          </a:p>
          <a:p>
            <a:r>
              <a:rPr lang="en" altLang="ko-KR" sz="1200" dirty="0">
                <a:solidFill>
                  <a:schemeClr val="bg1"/>
                </a:solidFill>
              </a:rPr>
              <a:t>4th International Conference on Computer Science and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" altLang="ko-KR" sz="1200" dirty="0">
                <a:solidFill>
                  <a:schemeClr val="bg1"/>
                </a:solidFill>
              </a:rPr>
              <a:t>Blockchain (CCSB), 2024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153788-2831-9C90-58D4-792EC670CD5D}"/>
              </a:ext>
            </a:extLst>
          </p:cNvPr>
          <p:cNvSpPr txBox="1"/>
          <p:nvPr/>
        </p:nvSpPr>
        <p:spPr>
          <a:xfrm>
            <a:off x="7043133" y="1814388"/>
            <a:ext cx="4344459" cy="11621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solidFill>
                  <a:schemeClr val="bg1"/>
                </a:solidFill>
              </a:rPr>
              <a:t>결국 원문을 제 </a:t>
            </a:r>
            <a:r>
              <a:rPr kumimoji="1" lang="en-US" altLang="ko-KR" sz="1600" dirty="0">
                <a:solidFill>
                  <a:schemeClr val="bg1"/>
                </a:solidFill>
              </a:rPr>
              <a:t>3</a:t>
            </a:r>
            <a:r>
              <a:rPr kumimoji="1" lang="ko-KR" altLang="en-US" sz="1600" dirty="0">
                <a:solidFill>
                  <a:schemeClr val="bg1"/>
                </a:solidFill>
              </a:rPr>
              <a:t>자 시스템에 위탁하는 구조</a:t>
            </a:r>
            <a:endParaRPr kumimoji="1" lang="en-US" altLang="ko-KR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solidFill>
                  <a:schemeClr val="bg1"/>
                </a:solidFill>
              </a:rPr>
              <a:t>소유자와 수요자 간의 일대일 통신</a:t>
            </a:r>
            <a:endParaRPr kumimoji="1" lang="en-US" altLang="ko-KR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 err="1">
                <a:solidFill>
                  <a:schemeClr val="bg1"/>
                </a:solidFill>
              </a:rPr>
              <a:t>영지식</a:t>
            </a:r>
            <a:r>
              <a:rPr kumimoji="1" lang="ko-KR" altLang="en-US" sz="1600" dirty="0">
                <a:solidFill>
                  <a:schemeClr val="bg1"/>
                </a:solidFill>
              </a:rPr>
              <a:t> 증명은 일회성 검증 수단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27F22178-6247-7BE3-29E2-EC2681EDBED0}"/>
              </a:ext>
            </a:extLst>
          </p:cNvPr>
          <p:cNvSpPr/>
          <p:nvPr/>
        </p:nvSpPr>
        <p:spPr>
          <a:xfrm>
            <a:off x="7043133" y="3881435"/>
            <a:ext cx="4344459" cy="1183511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39F759-0BAF-B0FD-2A85-4BC4E82A9D4A}"/>
              </a:ext>
            </a:extLst>
          </p:cNvPr>
          <p:cNvSpPr txBox="1"/>
          <p:nvPr/>
        </p:nvSpPr>
        <p:spPr>
          <a:xfrm>
            <a:off x="7314208" y="4077761"/>
            <a:ext cx="3276627" cy="79284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b="1" dirty="0">
                <a:solidFill>
                  <a:schemeClr val="bg1"/>
                </a:solidFill>
              </a:rPr>
              <a:t>원문 유출</a:t>
            </a:r>
            <a:r>
              <a:rPr kumimoji="1" lang="ko-KR" altLang="en-US" sz="1600" dirty="0">
                <a:solidFill>
                  <a:schemeClr val="bg1"/>
                </a:solidFill>
              </a:rPr>
              <a:t>의 가능성 배제 불가</a:t>
            </a:r>
            <a:endParaRPr kumimoji="1" lang="en-US" altLang="ko-KR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solidFill>
                  <a:schemeClr val="bg1"/>
                </a:solidFill>
              </a:rPr>
              <a:t>데이터 군집이 없어 </a:t>
            </a:r>
            <a:r>
              <a:rPr kumimoji="1" lang="ko-KR" altLang="en-US" sz="1600" b="1" dirty="0">
                <a:solidFill>
                  <a:schemeClr val="bg1"/>
                </a:solidFill>
              </a:rPr>
              <a:t>검색</a:t>
            </a:r>
            <a:r>
              <a:rPr kumimoji="1" lang="ko-KR" altLang="en-US" sz="1600" dirty="0">
                <a:solidFill>
                  <a:schemeClr val="bg1"/>
                </a:solidFill>
              </a:rPr>
              <a:t> 불가</a:t>
            </a:r>
            <a:endParaRPr kumimoji="1" lang="en-US" altLang="ko-KR" sz="1600" dirty="0">
              <a:solidFill>
                <a:schemeClr val="bg1"/>
              </a:solidFill>
            </a:endParaRPr>
          </a:p>
        </p:txBody>
      </p:sp>
      <p:sp>
        <p:nvSpPr>
          <p:cNvPr id="13" name="아래쪽 화살표[D] 12">
            <a:extLst>
              <a:ext uri="{FF2B5EF4-FFF2-40B4-BE49-F238E27FC236}">
                <a16:creationId xmlns:a16="http://schemas.microsoft.com/office/drawing/2014/main" id="{71BA753A-3816-3CF5-C47B-10BB9B17B6E2}"/>
              </a:ext>
            </a:extLst>
          </p:cNvPr>
          <p:cNvSpPr/>
          <p:nvPr/>
        </p:nvSpPr>
        <p:spPr>
          <a:xfrm>
            <a:off x="9055852" y="3112929"/>
            <a:ext cx="319020" cy="632142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36868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2F2713-C6C1-BD52-0D33-62A018FE7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1CD046-C74B-4B92-91A4-4F042CA120D9}"/>
              </a:ext>
            </a:extLst>
          </p:cNvPr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ple SD Gothic Neo"/>
              </a:defRPr>
            </a:pPr>
            <a:r>
              <a:t>01.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FE525-7922-8E36-A942-107E6FE088B7}"/>
              </a:ext>
            </a:extLst>
          </p:cNvPr>
          <p:cNvSpPr txBox="1"/>
          <p:nvPr/>
        </p:nvSpPr>
        <p:spPr>
          <a:xfrm>
            <a:off x="731520" y="594360"/>
            <a:ext cx="10728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dirty="0"/>
              <a:t>01 </a:t>
            </a:r>
            <a:r>
              <a:rPr lang="ko-KR" altLang="en-US" dirty="0"/>
              <a:t>서론</a:t>
            </a:r>
            <a:r>
              <a:rPr lang="en-US" altLang="ko-KR" dirty="0"/>
              <a:t>:</a:t>
            </a:r>
            <a:r>
              <a:rPr lang="ko-KR" altLang="en-US" dirty="0"/>
              <a:t> 제안의 핵심 아이디어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891DF9-F66F-715B-96BD-3AEA8A13E0FF}"/>
              </a:ext>
            </a:extLst>
          </p:cNvPr>
          <p:cNvSpPr txBox="1"/>
          <p:nvPr/>
        </p:nvSpPr>
        <p:spPr>
          <a:xfrm>
            <a:off x="1231374" y="2508829"/>
            <a:ext cx="9728946" cy="5037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2000" b="1" dirty="0">
                <a:solidFill>
                  <a:srgbClr val="23D3EE"/>
                </a:solidFill>
              </a:rPr>
              <a:t>일시적으로 쓰고 버려지는 영지식 증명 데이터들을 한데 모아</a:t>
            </a:r>
            <a:r>
              <a:rPr kumimoji="1" lang="en-US" altLang="ko-KR" sz="2000" b="1" dirty="0">
                <a:solidFill>
                  <a:srgbClr val="23D3EE"/>
                </a:solidFill>
              </a:rPr>
              <a:t>,</a:t>
            </a:r>
            <a:r>
              <a:rPr kumimoji="1" lang="ko-KR" altLang="en-US" sz="2000" b="1" dirty="0">
                <a:solidFill>
                  <a:srgbClr val="23D3EE"/>
                </a:solidFill>
              </a:rPr>
              <a:t> 검색할 수 있게 </a:t>
            </a:r>
            <a:r>
              <a:rPr kumimoji="1" lang="en-US" altLang="ko-KR" sz="2000" b="1" dirty="0">
                <a:solidFill>
                  <a:srgbClr val="23D3EE"/>
                </a:solidFill>
              </a:rPr>
              <a:t> </a:t>
            </a:r>
            <a:r>
              <a:rPr kumimoji="1" lang="ko-KR" altLang="en-US" sz="2000" b="1" dirty="0">
                <a:solidFill>
                  <a:srgbClr val="23D3EE"/>
                </a:solidFill>
              </a:rPr>
              <a:t>만들자</a:t>
            </a:r>
            <a:r>
              <a:rPr kumimoji="1" lang="en-US" altLang="ko-KR" sz="2000" b="1" dirty="0">
                <a:solidFill>
                  <a:srgbClr val="23D3EE"/>
                </a:solidFill>
              </a:rPr>
              <a:t>.</a:t>
            </a:r>
            <a:endParaRPr kumimoji="1" lang="ko-KR" altLang="en-US" sz="2000" b="1" dirty="0">
              <a:solidFill>
                <a:srgbClr val="23D3EE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30A0D361-88E8-BBE9-A5AF-AC4856959B61}"/>
              </a:ext>
            </a:extLst>
          </p:cNvPr>
          <p:cNvSpPr/>
          <p:nvPr/>
        </p:nvSpPr>
        <p:spPr>
          <a:xfrm>
            <a:off x="2182511" y="3281914"/>
            <a:ext cx="3642262" cy="1183511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2E53E4-B3BE-DC2A-8F49-6A487BFDF5C1}"/>
              </a:ext>
            </a:extLst>
          </p:cNvPr>
          <p:cNvSpPr txBox="1"/>
          <p:nvPr/>
        </p:nvSpPr>
        <p:spPr>
          <a:xfrm>
            <a:off x="2365328" y="3663900"/>
            <a:ext cx="3276627" cy="4215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600" b="1" dirty="0">
                <a:solidFill>
                  <a:schemeClr val="bg1"/>
                </a:solidFill>
              </a:rPr>
              <a:t>원문 유출 가능성 원천 차단</a:t>
            </a:r>
            <a:endParaRPr kumimoji="1" lang="en-US" altLang="ko-KR" sz="1600" b="1" dirty="0">
              <a:solidFill>
                <a:schemeClr val="bg1"/>
              </a:solidFill>
            </a:endParaRP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8FF2DD95-4736-2B4D-F163-951BC02F93E8}"/>
              </a:ext>
            </a:extLst>
          </p:cNvPr>
          <p:cNvSpPr/>
          <p:nvPr/>
        </p:nvSpPr>
        <p:spPr>
          <a:xfrm>
            <a:off x="6095847" y="3281914"/>
            <a:ext cx="3642262" cy="1183511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74ADBC-20E1-200F-44B7-3D944F65CBE6}"/>
              </a:ext>
            </a:extLst>
          </p:cNvPr>
          <p:cNvSpPr txBox="1"/>
          <p:nvPr/>
        </p:nvSpPr>
        <p:spPr>
          <a:xfrm>
            <a:off x="6278664" y="3663900"/>
            <a:ext cx="3276627" cy="42152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600" b="1" dirty="0">
                <a:solidFill>
                  <a:schemeClr val="bg1"/>
                </a:solidFill>
              </a:rPr>
              <a:t>데이터 존재 여부 검색 가능</a:t>
            </a:r>
            <a:endParaRPr kumimoji="1" lang="en-US" altLang="ko-KR" sz="16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CC7F89-03F8-37BC-E2E6-9F2C9230B1EA}"/>
              </a:ext>
            </a:extLst>
          </p:cNvPr>
          <p:cNvSpPr txBox="1"/>
          <p:nvPr/>
        </p:nvSpPr>
        <p:spPr>
          <a:xfrm>
            <a:off x="2502389" y="4734718"/>
            <a:ext cx="6644768" cy="8697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이미 생성된 </a:t>
            </a:r>
            <a:r>
              <a:rPr kumimoji="1" lang="ko-KR" altLang="en-US" b="1" dirty="0" err="1">
                <a:solidFill>
                  <a:schemeClr val="bg1"/>
                </a:solidFill>
                <a:latin typeface="+mn-ea"/>
              </a:rPr>
              <a:t>영지식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 증명들은 경직된 증거</a:t>
            </a:r>
            <a:endParaRPr kumimoji="1" lang="en-US" altLang="ko-KR" b="1" dirty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ko-KR" b="1" dirty="0">
                <a:solidFill>
                  <a:srgbClr val="23D3EE"/>
                </a:solidFill>
                <a:latin typeface="+mn-ea"/>
              </a:rPr>
              <a:t>But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절대적인 참고치가 존재하는 의료 분야에선 충분한 유용성</a:t>
            </a:r>
            <a:endParaRPr kumimoji="1" lang="en-US" altLang="ko-KR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03998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206E3-F41D-48CE-E375-0F7646210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4801B3-4F3F-28A9-6CBF-35C097B42AFB}"/>
              </a:ext>
            </a:extLst>
          </p:cNvPr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ple SD Gothic Neo"/>
              </a:defRPr>
            </a:pPr>
            <a:r>
              <a:t>01.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B4546-B9CD-EA58-BF01-C175CED2DEDF}"/>
              </a:ext>
            </a:extLst>
          </p:cNvPr>
          <p:cNvSpPr txBox="1"/>
          <p:nvPr/>
        </p:nvSpPr>
        <p:spPr>
          <a:xfrm>
            <a:off x="731520" y="594360"/>
            <a:ext cx="10728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dirty="0"/>
              <a:t>01</a:t>
            </a:r>
            <a:r>
              <a:rPr lang="ko-KR" altLang="en-US" dirty="0"/>
              <a:t> 서론</a:t>
            </a:r>
            <a:r>
              <a:rPr lang="en-US" altLang="ko-KR" dirty="0"/>
              <a:t>:</a:t>
            </a:r>
            <a:r>
              <a:rPr lang="ko-KR" altLang="en-US" dirty="0"/>
              <a:t> 문제 정의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155395-568B-E6E1-0EE0-404CDA1C432C}"/>
              </a:ext>
            </a:extLst>
          </p:cNvPr>
          <p:cNvSpPr txBox="1"/>
          <p:nvPr/>
        </p:nvSpPr>
        <p:spPr>
          <a:xfrm>
            <a:off x="731521" y="1998479"/>
            <a:ext cx="10728654" cy="928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800"/>
              </a:spcBef>
              <a:defRPr sz="1900" b="1">
                <a:solidFill>
                  <a:srgbClr val="22D3EE"/>
                </a:solidFill>
                <a:latin typeface="Apple SD Gothic Neo"/>
              </a:defRPr>
            </a:pPr>
            <a:r>
              <a:rPr lang="en-US" altLang="ko-KR" dirty="0"/>
              <a:t>"</a:t>
            </a:r>
            <a:r>
              <a:rPr lang="ko-KR" altLang="en-US" dirty="0"/>
              <a:t>어떻게 하면 데이터 </a:t>
            </a:r>
            <a:r>
              <a:rPr lang="ko-KR" altLang="en-US" dirty="0">
                <a:solidFill>
                  <a:srgbClr val="23D3EE"/>
                </a:solidFill>
              </a:rPr>
              <a:t>원문을</a:t>
            </a:r>
            <a:r>
              <a:rPr lang="ko-KR" altLang="en-US" dirty="0"/>
              <a:t> 은닉</a:t>
            </a:r>
            <a:r>
              <a:rPr lang="en-US" altLang="ko-KR" dirty="0"/>
              <a:t>(</a:t>
            </a:r>
            <a:r>
              <a:rPr lang="en" altLang="ko-KR" dirty="0"/>
              <a:t>Privacy)</a:t>
            </a:r>
            <a:r>
              <a:rPr lang="ko-KR" altLang="en-US" dirty="0"/>
              <a:t>하여 데이터 최소화를 실현하면서도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실시간 검색</a:t>
            </a:r>
            <a:r>
              <a:rPr lang="en-US" altLang="ko-KR" dirty="0"/>
              <a:t>(</a:t>
            </a:r>
            <a:r>
              <a:rPr lang="en" altLang="ko-KR" dirty="0"/>
              <a:t>Searchability)</a:t>
            </a:r>
            <a:r>
              <a:rPr lang="ko-KR" altLang="en-US" dirty="0"/>
              <a:t>이 가능한 시스템을 구축할 것인가</a:t>
            </a:r>
            <a:r>
              <a:rPr lang="en-US" altLang="ko-KR" dirty="0"/>
              <a:t>?"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26F13CC9-993D-A20B-2B10-7F501C637CD4}"/>
              </a:ext>
            </a:extLst>
          </p:cNvPr>
          <p:cNvSpPr/>
          <p:nvPr/>
        </p:nvSpPr>
        <p:spPr>
          <a:xfrm>
            <a:off x="1533035" y="3413766"/>
            <a:ext cx="3689340" cy="1700366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02AB86-FB4A-4EBC-005B-720B248C1B39}"/>
              </a:ext>
            </a:extLst>
          </p:cNvPr>
          <p:cNvSpPr txBox="1"/>
          <p:nvPr/>
        </p:nvSpPr>
        <p:spPr>
          <a:xfrm>
            <a:off x="2403368" y="3510022"/>
            <a:ext cx="1948675" cy="5749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400" b="1" dirty="0">
                <a:solidFill>
                  <a:schemeClr val="bg1"/>
                </a:solidFill>
                <a:latin typeface="+mn-ea"/>
              </a:rPr>
              <a:t>Privacy </a:t>
            </a:r>
            <a:r>
              <a:rPr kumimoji="1" lang="ko-KR" altLang="en-US" sz="2400" b="1" dirty="0">
                <a:solidFill>
                  <a:schemeClr val="bg1"/>
                </a:solidFill>
                <a:latin typeface="+mn-ea"/>
              </a:rPr>
              <a:t>우선</a:t>
            </a:r>
            <a:endParaRPr kumimoji="1" lang="en-US" altLang="ko-KR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00D56-4ED8-E931-56C4-249EFE92159A}"/>
              </a:ext>
            </a:extLst>
          </p:cNvPr>
          <p:cNvSpPr txBox="1"/>
          <p:nvPr/>
        </p:nvSpPr>
        <p:spPr>
          <a:xfrm>
            <a:off x="2558733" y="4084988"/>
            <a:ext cx="1637949" cy="7928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600" dirty="0">
                <a:solidFill>
                  <a:schemeClr val="bg1"/>
                </a:solidFill>
              </a:rPr>
              <a:t>정보량 </a:t>
            </a:r>
            <a:r>
              <a:rPr kumimoji="1" lang="en-US" altLang="ko-KR" sz="1600" dirty="0">
                <a:solidFill>
                  <a:schemeClr val="bg1"/>
                </a:solidFill>
              </a:rPr>
              <a:t>Low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1600" dirty="0">
                <a:solidFill>
                  <a:schemeClr val="bg1"/>
                </a:solidFill>
              </a:rPr>
              <a:t>Searchability </a:t>
            </a:r>
            <a:r>
              <a:rPr kumimoji="1" lang="en-US" altLang="ko-KR" sz="1600" b="1" dirty="0">
                <a:solidFill>
                  <a:srgbClr val="C00000"/>
                </a:solidFill>
              </a:rPr>
              <a:t>Low</a:t>
            </a:r>
            <a:endParaRPr kumimoji="1" lang="ko-KR" altLang="en-US" sz="1600" b="1" dirty="0">
              <a:solidFill>
                <a:srgbClr val="C00000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6A315C5F-F526-22CF-C61E-E00294FC2EC1}"/>
              </a:ext>
            </a:extLst>
          </p:cNvPr>
          <p:cNvSpPr/>
          <p:nvPr/>
        </p:nvSpPr>
        <p:spPr>
          <a:xfrm>
            <a:off x="6924643" y="3413766"/>
            <a:ext cx="3689341" cy="170036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2D000D-685B-1469-38D7-422C6D750CFB}"/>
              </a:ext>
            </a:extLst>
          </p:cNvPr>
          <p:cNvSpPr txBox="1"/>
          <p:nvPr/>
        </p:nvSpPr>
        <p:spPr>
          <a:xfrm>
            <a:off x="7438761" y="3510022"/>
            <a:ext cx="2776850" cy="57496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400" b="1" dirty="0">
                <a:solidFill>
                  <a:schemeClr val="bg1"/>
                </a:solidFill>
                <a:latin typeface="+mn-ea"/>
              </a:rPr>
              <a:t>Searchability</a:t>
            </a:r>
            <a:r>
              <a:rPr kumimoji="1" lang="ko-KR" altLang="en-US" sz="2400" b="1" dirty="0">
                <a:solidFill>
                  <a:schemeClr val="bg1"/>
                </a:solidFill>
                <a:latin typeface="+mn-ea"/>
              </a:rPr>
              <a:t> 우선</a:t>
            </a:r>
            <a:endParaRPr kumimoji="1" lang="en-US" altLang="ko-KR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3F3F29-3FED-AFAA-4B0B-27A918C13094}"/>
              </a:ext>
            </a:extLst>
          </p:cNvPr>
          <p:cNvSpPr txBox="1"/>
          <p:nvPr/>
        </p:nvSpPr>
        <p:spPr>
          <a:xfrm>
            <a:off x="8214675" y="4086976"/>
            <a:ext cx="1225014" cy="7908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600" dirty="0">
                <a:solidFill>
                  <a:schemeClr val="bg1"/>
                </a:solidFill>
              </a:rPr>
              <a:t>정보량 </a:t>
            </a:r>
            <a:r>
              <a:rPr kumimoji="1" lang="en-US" altLang="ko-KR" sz="1600" dirty="0">
                <a:solidFill>
                  <a:schemeClr val="bg1"/>
                </a:solidFill>
              </a:rPr>
              <a:t>High</a:t>
            </a:r>
          </a:p>
          <a:p>
            <a:pPr algn="ctr">
              <a:lnSpc>
                <a:spcPct val="150000"/>
              </a:lnSpc>
            </a:pPr>
            <a:r>
              <a:rPr kumimoji="1" lang="en-US" altLang="ko-KR" sz="1600" dirty="0">
                <a:solidFill>
                  <a:schemeClr val="bg1"/>
                </a:solidFill>
              </a:rPr>
              <a:t>Privacy </a:t>
            </a:r>
            <a:r>
              <a:rPr kumimoji="1" lang="en-US" altLang="ko-KR" sz="1600" b="1" dirty="0">
                <a:solidFill>
                  <a:srgbClr val="C00000"/>
                </a:solidFill>
              </a:rPr>
              <a:t>Low</a:t>
            </a:r>
            <a:endParaRPr kumimoji="1" lang="ko-KR" altLang="en-US" sz="1600" b="1" dirty="0">
              <a:solidFill>
                <a:srgbClr val="C0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B1C89E-19B3-3BF0-30ED-48848253FA37}"/>
              </a:ext>
            </a:extLst>
          </p:cNvPr>
          <p:cNvSpPr txBox="1"/>
          <p:nvPr/>
        </p:nvSpPr>
        <p:spPr>
          <a:xfrm>
            <a:off x="5864308" y="4075228"/>
            <a:ext cx="4530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chemeClr val="bg1"/>
                </a:solidFill>
              </a:rPr>
              <a:t>vs</a:t>
            </a:r>
            <a:endParaRPr kumimoji="1"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8A25C4-04AC-A303-2E47-FCC692D468EF}"/>
              </a:ext>
            </a:extLst>
          </p:cNvPr>
          <p:cNvSpPr txBox="1"/>
          <p:nvPr/>
        </p:nvSpPr>
        <p:spPr>
          <a:xfrm>
            <a:off x="4474249" y="1511459"/>
            <a:ext cx="32431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solidFill>
                  <a:schemeClr val="bg1"/>
                </a:solidFill>
              </a:rPr>
              <a:t>해당 제안을 통해 해결하려는 문제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2C3B1C-F7B8-4C96-463E-C502C52609F3}"/>
              </a:ext>
            </a:extLst>
          </p:cNvPr>
          <p:cNvSpPr txBox="1"/>
          <p:nvPr/>
        </p:nvSpPr>
        <p:spPr>
          <a:xfrm>
            <a:off x="2022262" y="5601152"/>
            <a:ext cx="8137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>
                <a:solidFill>
                  <a:schemeClr val="bg1"/>
                </a:solidFill>
                <a:latin typeface="+mn-ea"/>
              </a:rPr>
              <a:t>증명 검색 시스템을 통해 프라이버시와 검색 가능성 사이의 절충안을 찾는다</a:t>
            </a:r>
            <a:r>
              <a:rPr kumimoji="1" lang="en-US" altLang="ko-KR" b="1" dirty="0">
                <a:solidFill>
                  <a:schemeClr val="bg1"/>
                </a:solidFill>
                <a:latin typeface="+mn-ea"/>
              </a:rPr>
              <a:t>.</a:t>
            </a:r>
            <a:endParaRPr kumimoji="1" lang="ko-KR" altLang="en-US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6306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BA418130-2BC7-95D0-18D4-B32BC8F92D6A}"/>
              </a:ext>
            </a:extLst>
          </p:cNvPr>
          <p:cNvSpPr/>
          <p:nvPr/>
        </p:nvSpPr>
        <p:spPr>
          <a:xfrm>
            <a:off x="6096000" y="3905850"/>
            <a:ext cx="4475880" cy="2066089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8AD5ED4B-C4F3-88DD-A4BD-B0F45F9E7EB9}"/>
              </a:ext>
            </a:extLst>
          </p:cNvPr>
          <p:cNvSpPr/>
          <p:nvPr/>
        </p:nvSpPr>
        <p:spPr>
          <a:xfrm>
            <a:off x="1348285" y="3900373"/>
            <a:ext cx="4475880" cy="2071567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96F0BD98-9D3B-9D96-4D56-0D9CBBCC6271}"/>
              </a:ext>
            </a:extLst>
          </p:cNvPr>
          <p:cNvSpPr/>
          <p:nvPr/>
        </p:nvSpPr>
        <p:spPr>
          <a:xfrm>
            <a:off x="6096000" y="1624952"/>
            <a:ext cx="4475880" cy="2071567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 dirty="0"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4BB8A908-FDCD-2AFB-F5CF-50781BE453E4}"/>
              </a:ext>
            </a:extLst>
          </p:cNvPr>
          <p:cNvSpPr/>
          <p:nvPr/>
        </p:nvSpPr>
        <p:spPr>
          <a:xfrm>
            <a:off x="1348285" y="1624952"/>
            <a:ext cx="4475880" cy="2071567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ple SD Gothic Neo"/>
              </a:defRPr>
            </a:pPr>
            <a:r>
              <a:t>02. RELATED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dirty="0"/>
              <a:t>02</a:t>
            </a:r>
            <a:r>
              <a:rPr lang="ko-KR" altLang="en-US" dirty="0"/>
              <a:t> </a:t>
            </a:r>
            <a:r>
              <a:rPr dirty="0" err="1"/>
              <a:t>관련</a:t>
            </a:r>
            <a:r>
              <a:rPr dirty="0"/>
              <a:t> </a:t>
            </a:r>
            <a:r>
              <a:rPr dirty="0" err="1"/>
              <a:t>연구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620120" y="1849966"/>
            <a:ext cx="223113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lang="ko-KR" altLang="en-US" sz="1600" dirty="0">
                <a:latin typeface="+mn-ea"/>
              </a:rPr>
              <a:t>순서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보존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암호화</a:t>
            </a:r>
            <a:r>
              <a:rPr lang="en-US" altLang="ko-KR" sz="1600" dirty="0">
                <a:latin typeface="+mn-ea"/>
              </a:rPr>
              <a:t>(OPE)</a:t>
            </a:r>
            <a:endParaRPr sz="1600" dirty="0"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49295" y="2229294"/>
            <a:ext cx="4172988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sz="1600" b="1" dirty="0" err="1">
                <a:solidFill>
                  <a:srgbClr val="22D3EE"/>
                </a:solidFill>
                <a:latin typeface="+mn-ea"/>
              </a:rPr>
              <a:t>특징</a:t>
            </a:r>
            <a:r>
              <a:rPr sz="1600" b="1" dirty="0">
                <a:solidFill>
                  <a:srgbClr val="22D3EE"/>
                </a:solidFill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암호화된 상태에서도 원문들 간의 대소 관계를 유지하여 범위 검색이 가능</a:t>
            </a:r>
            <a:endParaRPr lang="en-US" altLang="ko-KR" sz="1600" dirty="0">
              <a:latin typeface="+mn-ea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sz="1600" b="1" dirty="0" err="1">
                <a:solidFill>
                  <a:srgbClr val="22D3EE"/>
                </a:solidFill>
                <a:latin typeface="+mn-ea"/>
              </a:rPr>
              <a:t>한계</a:t>
            </a:r>
            <a:r>
              <a:rPr sz="1600" b="1" dirty="0">
                <a:solidFill>
                  <a:srgbClr val="22D3EE"/>
                </a:solidFill>
                <a:latin typeface="+mn-ea"/>
              </a:rPr>
              <a:t>: </a:t>
            </a:r>
            <a:r>
              <a:rPr sz="1600" dirty="0" err="1">
                <a:solidFill>
                  <a:srgbClr val="F8FAFC"/>
                </a:solidFill>
                <a:latin typeface="+mn-ea"/>
              </a:rPr>
              <a:t>순서</a:t>
            </a:r>
            <a:r>
              <a:rPr sz="1600" dirty="0">
                <a:solidFill>
                  <a:srgbClr val="F8FAFC"/>
                </a:solidFill>
                <a:latin typeface="+mn-ea"/>
              </a:rPr>
              <a:t>/</a:t>
            </a:r>
            <a:r>
              <a:rPr sz="1600" dirty="0" err="1">
                <a:solidFill>
                  <a:srgbClr val="F8FAFC"/>
                </a:solidFill>
                <a:latin typeface="+mn-ea"/>
              </a:rPr>
              <a:t>빈도</a:t>
            </a:r>
            <a:r>
              <a:rPr sz="1600" dirty="0">
                <a:solidFill>
                  <a:srgbClr val="F8FAFC"/>
                </a:solidFill>
                <a:latin typeface="+mn-ea"/>
              </a:rPr>
              <a:t> </a:t>
            </a:r>
            <a:r>
              <a:rPr sz="1600" dirty="0" err="1">
                <a:solidFill>
                  <a:srgbClr val="F8FAFC"/>
                </a:solidFill>
                <a:latin typeface="+mn-ea"/>
              </a:rPr>
              <a:t>정보</a:t>
            </a:r>
            <a:r>
              <a:rPr sz="1600" dirty="0">
                <a:solidFill>
                  <a:srgbClr val="F8FAFC"/>
                </a:solidFill>
                <a:latin typeface="+mn-ea"/>
              </a:rPr>
              <a:t> </a:t>
            </a:r>
            <a:r>
              <a:rPr sz="1600" dirty="0" err="1">
                <a:solidFill>
                  <a:srgbClr val="F8FAFC"/>
                </a:solidFill>
                <a:latin typeface="+mn-ea"/>
              </a:rPr>
              <a:t>노출로</a:t>
            </a:r>
            <a:r>
              <a:rPr sz="1600" dirty="0">
                <a:solidFill>
                  <a:srgbClr val="F8FAFC"/>
                </a:solidFill>
                <a:latin typeface="+mn-ea"/>
              </a:rPr>
              <a:t> </a:t>
            </a:r>
            <a:r>
              <a:rPr sz="1600" dirty="0" err="1">
                <a:solidFill>
                  <a:srgbClr val="F8FAFC"/>
                </a:solidFill>
                <a:latin typeface="+mn-ea"/>
              </a:rPr>
              <a:t>추론</a:t>
            </a:r>
            <a:r>
              <a:rPr sz="1600" dirty="0">
                <a:solidFill>
                  <a:srgbClr val="F8FAFC"/>
                </a:solidFill>
                <a:latin typeface="+mn-ea"/>
              </a:rPr>
              <a:t> </a:t>
            </a:r>
            <a:r>
              <a:rPr sz="1600" dirty="0" err="1">
                <a:solidFill>
                  <a:srgbClr val="F8FAFC"/>
                </a:solidFill>
                <a:latin typeface="+mn-ea"/>
              </a:rPr>
              <a:t>공격에</a:t>
            </a:r>
            <a:r>
              <a:rPr sz="1600" dirty="0">
                <a:solidFill>
                  <a:srgbClr val="F8FAFC"/>
                </a:solidFill>
                <a:latin typeface="+mn-ea"/>
              </a:rPr>
              <a:t> </a:t>
            </a:r>
            <a:r>
              <a:rPr sz="1600" dirty="0" err="1">
                <a:solidFill>
                  <a:srgbClr val="F8FAFC"/>
                </a:solidFill>
                <a:latin typeface="+mn-ea"/>
              </a:rPr>
              <a:t>취약</a:t>
            </a:r>
            <a:r>
              <a:rPr sz="1600" dirty="0">
                <a:solidFill>
                  <a:srgbClr val="F8FAFC"/>
                </a:solidFill>
                <a:latin typeface="+mn-ea"/>
              </a:rPr>
              <a:t>, </a:t>
            </a:r>
            <a:r>
              <a:rPr sz="1600" dirty="0" err="1">
                <a:solidFill>
                  <a:srgbClr val="F8FAFC"/>
                </a:solidFill>
                <a:latin typeface="+mn-ea"/>
              </a:rPr>
              <a:t>원문</a:t>
            </a:r>
            <a:r>
              <a:rPr sz="1600" dirty="0">
                <a:solidFill>
                  <a:srgbClr val="F8FAFC"/>
                </a:solidFill>
                <a:latin typeface="+mn-ea"/>
              </a:rPr>
              <a:t> </a:t>
            </a:r>
            <a:r>
              <a:rPr sz="1600" dirty="0" err="1">
                <a:solidFill>
                  <a:srgbClr val="F8FAFC"/>
                </a:solidFill>
                <a:latin typeface="+mn-ea"/>
              </a:rPr>
              <a:t>복구</a:t>
            </a:r>
            <a:r>
              <a:rPr sz="1600" dirty="0">
                <a:solidFill>
                  <a:srgbClr val="F8FAFC"/>
                </a:solidFill>
                <a:latin typeface="+mn-ea"/>
              </a:rPr>
              <a:t> </a:t>
            </a:r>
            <a:r>
              <a:rPr sz="1600" dirty="0" err="1">
                <a:solidFill>
                  <a:srgbClr val="F8FAFC"/>
                </a:solidFill>
                <a:latin typeface="+mn-ea"/>
              </a:rPr>
              <a:t>위협</a:t>
            </a:r>
            <a:r>
              <a:rPr sz="1600" dirty="0">
                <a:solidFill>
                  <a:srgbClr val="F8FAFC"/>
                </a:solidFill>
                <a:latin typeface="+mn-ea"/>
              </a:rPr>
              <a:t> </a:t>
            </a:r>
            <a:r>
              <a:rPr sz="1600" dirty="0" err="1">
                <a:solidFill>
                  <a:srgbClr val="F8FAFC"/>
                </a:solidFill>
                <a:latin typeface="+mn-ea"/>
              </a:rPr>
              <a:t>존재</a:t>
            </a:r>
            <a:endParaRPr sz="1600" dirty="0">
              <a:solidFill>
                <a:srgbClr val="F8FAFC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52A25-5182-7BC1-7818-AC33398CEFCB}"/>
              </a:ext>
            </a:extLst>
          </p:cNvPr>
          <p:cNvSpPr txBox="1"/>
          <p:nvPr/>
        </p:nvSpPr>
        <p:spPr>
          <a:xfrm>
            <a:off x="6398174" y="1849966"/>
            <a:ext cx="408528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lang="ko-KR" altLang="en-US" sz="1600" dirty="0">
                <a:latin typeface="+mn-ea"/>
              </a:rPr>
              <a:t>동형암호</a:t>
            </a:r>
            <a:r>
              <a:rPr lang="en-US" altLang="ko-KR" sz="1600" dirty="0">
                <a:latin typeface="+mn-ea"/>
              </a:rPr>
              <a:t>,</a:t>
            </a:r>
            <a:r>
              <a:rPr lang="ko-KR" altLang="en-US" sz="1600" dirty="0">
                <a:latin typeface="+mn-ea"/>
              </a:rPr>
              <a:t> 특수 인덱스 기반 검색</a:t>
            </a:r>
            <a:endParaRPr sz="1600" dirty="0"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CD1BD5-EF65-57A8-F0D7-9C5935F6C84D}"/>
              </a:ext>
            </a:extLst>
          </p:cNvPr>
          <p:cNvSpPr txBox="1"/>
          <p:nvPr/>
        </p:nvSpPr>
        <p:spPr>
          <a:xfrm>
            <a:off x="6291297" y="2229294"/>
            <a:ext cx="389395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sz="1600" b="1" dirty="0" err="1">
                <a:solidFill>
                  <a:srgbClr val="22D3EE"/>
                </a:solidFill>
                <a:latin typeface="+mn-ea"/>
              </a:rPr>
              <a:t>특징</a:t>
            </a:r>
            <a:r>
              <a:rPr sz="1600" b="1" dirty="0">
                <a:solidFill>
                  <a:srgbClr val="22D3EE"/>
                </a:solidFill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순서 정보를 노출하지 않으면서 암호화된 상태에서 범위 검색이 가능</a:t>
            </a:r>
            <a:endParaRPr lang="en-US" altLang="ko-KR" sz="1600" dirty="0">
              <a:latin typeface="+mn-ea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sz="1600" b="1" dirty="0" err="1">
                <a:solidFill>
                  <a:srgbClr val="22D3EE"/>
                </a:solidFill>
                <a:latin typeface="+mn-ea"/>
              </a:rPr>
              <a:t>한계</a:t>
            </a:r>
            <a:r>
              <a:rPr sz="1600" b="1" dirty="0">
                <a:solidFill>
                  <a:srgbClr val="22D3EE"/>
                </a:solidFill>
                <a:latin typeface="+mn-ea"/>
              </a:rPr>
              <a:t>: 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신뢰할 수 없는 </a:t>
            </a:r>
            <a:r>
              <a:rPr lang="ko-KR" altLang="en-US" sz="1600" dirty="0">
                <a:solidFill>
                  <a:srgbClr val="F8FAFC"/>
                </a:solidFill>
                <a:latin typeface="+mn-ea"/>
              </a:rPr>
              <a:t>제</a:t>
            </a:r>
            <a:r>
              <a:rPr lang="en-US" altLang="ko-KR" sz="1600" dirty="0">
                <a:solidFill>
                  <a:srgbClr val="F8FAFC"/>
                </a:solidFill>
                <a:latin typeface="+mn-ea"/>
              </a:rPr>
              <a:t>3</a:t>
            </a:r>
            <a:r>
              <a:rPr lang="ko-KR" altLang="en-US" sz="1600" dirty="0">
                <a:solidFill>
                  <a:srgbClr val="F8FAFC"/>
                </a:solidFill>
                <a:latin typeface="+mn-ea"/>
              </a:rPr>
              <a:t>자의 암호화 연산 수행</a:t>
            </a:r>
            <a:endParaRPr sz="1600" dirty="0">
              <a:solidFill>
                <a:srgbClr val="F8FAFC"/>
              </a:solidFill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055830-72A5-F1E7-2B82-2979378A3ADC}"/>
              </a:ext>
            </a:extLst>
          </p:cNvPr>
          <p:cNvSpPr txBox="1"/>
          <p:nvPr/>
        </p:nvSpPr>
        <p:spPr>
          <a:xfrm>
            <a:off x="1620121" y="4104135"/>
            <a:ext cx="273812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lang="ko-KR" altLang="en-US" sz="1600" dirty="0">
                <a:latin typeface="+mn-ea"/>
              </a:rPr>
              <a:t>검증 가능한 데이터베이스</a:t>
            </a:r>
            <a:endParaRPr sz="1600" dirty="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08CB53-487C-4B4C-81B2-C64E5EA04A8C}"/>
              </a:ext>
            </a:extLst>
          </p:cNvPr>
          <p:cNvSpPr txBox="1"/>
          <p:nvPr/>
        </p:nvSpPr>
        <p:spPr>
          <a:xfrm>
            <a:off x="1536998" y="4489880"/>
            <a:ext cx="408528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sz="1600" b="1" dirty="0" err="1">
                <a:solidFill>
                  <a:srgbClr val="22D3EE"/>
                </a:solidFill>
                <a:latin typeface="+mn-ea"/>
              </a:rPr>
              <a:t>특징</a:t>
            </a:r>
            <a:r>
              <a:rPr sz="1600" b="1" dirty="0">
                <a:solidFill>
                  <a:srgbClr val="22D3EE"/>
                </a:solidFill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신뢰할 수 없는 데이터베이스에 대해 쿼리의 무결성을 제공</a:t>
            </a:r>
            <a:endParaRPr lang="en-US" altLang="ko-KR" sz="1600" dirty="0">
              <a:latin typeface="+mn-ea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sz="1600" b="1" dirty="0" err="1">
                <a:solidFill>
                  <a:srgbClr val="22D3EE"/>
                </a:solidFill>
                <a:latin typeface="+mn-ea"/>
              </a:rPr>
              <a:t>한계</a:t>
            </a:r>
            <a:r>
              <a:rPr sz="1600" b="1" dirty="0">
                <a:solidFill>
                  <a:srgbClr val="22D3EE"/>
                </a:solidFill>
                <a:latin typeface="+mn-ea"/>
              </a:rPr>
              <a:t>: 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실시간 증명 연산에 대한 큰 오버헤드</a:t>
            </a:r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,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 동적 데이터베이스에 적용 어려움</a:t>
            </a:r>
            <a:endParaRPr sz="1600" dirty="0">
              <a:solidFill>
                <a:srgbClr val="F8FAFC"/>
              </a:solidFill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B17A68-1D5A-462A-F071-4235A8C2F25A}"/>
              </a:ext>
            </a:extLst>
          </p:cNvPr>
          <p:cNvSpPr txBox="1"/>
          <p:nvPr/>
        </p:nvSpPr>
        <p:spPr>
          <a:xfrm>
            <a:off x="6398174" y="4085632"/>
            <a:ext cx="345834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lang="ko-KR" altLang="en-US" sz="1600" dirty="0">
                <a:latin typeface="+mn-ea"/>
              </a:rPr>
              <a:t>하드웨어</a:t>
            </a:r>
            <a:r>
              <a:rPr lang="en-US" altLang="ko-KR" sz="1600" dirty="0">
                <a:latin typeface="+mn-ea"/>
              </a:rPr>
              <a:t>,</a:t>
            </a:r>
            <a:r>
              <a:rPr lang="ko-KR" altLang="en-US" sz="1600" dirty="0">
                <a:latin typeface="+mn-ea"/>
              </a:rPr>
              <a:t> 블록체인 기반 접근</a:t>
            </a:r>
            <a:endParaRPr sz="1600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FFEDAA-F175-990D-0AE8-CAE301407D49}"/>
              </a:ext>
            </a:extLst>
          </p:cNvPr>
          <p:cNvSpPr txBox="1"/>
          <p:nvPr/>
        </p:nvSpPr>
        <p:spPr>
          <a:xfrm>
            <a:off x="6291297" y="4536046"/>
            <a:ext cx="4085285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sz="1600" b="1" dirty="0" err="1">
                <a:solidFill>
                  <a:srgbClr val="22D3EE"/>
                </a:solidFill>
                <a:latin typeface="+mn-ea"/>
              </a:rPr>
              <a:t>특징</a:t>
            </a:r>
            <a:r>
              <a:rPr sz="1600" b="1" dirty="0">
                <a:solidFill>
                  <a:srgbClr val="22D3EE"/>
                </a:solidFill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소프트웨어적 접근법의 한계 극복</a:t>
            </a:r>
            <a:endParaRPr lang="en-US" altLang="ko-KR" sz="1600" dirty="0">
              <a:latin typeface="+mn-ea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lang="ko-KR" altLang="en-US" sz="1600" b="1" dirty="0">
                <a:solidFill>
                  <a:srgbClr val="22D3EE"/>
                </a:solidFill>
                <a:latin typeface="+mn-ea"/>
              </a:rPr>
              <a:t>한</a:t>
            </a:r>
            <a:r>
              <a:rPr sz="1600" b="1" dirty="0" err="1">
                <a:solidFill>
                  <a:srgbClr val="22D3EE"/>
                </a:solidFill>
                <a:latin typeface="+mn-ea"/>
              </a:rPr>
              <a:t>계</a:t>
            </a:r>
            <a:r>
              <a:rPr sz="1600" b="1" dirty="0">
                <a:solidFill>
                  <a:srgbClr val="22D3EE"/>
                </a:solidFill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하드웨어 제조사에 종속</a:t>
            </a:r>
            <a:r>
              <a:rPr lang="en-US" altLang="ko-KR" sz="1600" dirty="0">
                <a:latin typeface="+mn-ea"/>
              </a:rPr>
              <a:t>,</a:t>
            </a:r>
            <a:r>
              <a:rPr lang="ko-KR" altLang="en-US" sz="1600" dirty="0">
                <a:latin typeface="+mn-ea"/>
              </a:rPr>
              <a:t> 블록체인은 무결성만 보장</a:t>
            </a:r>
            <a:r>
              <a:rPr lang="en-US" altLang="ko-KR" sz="1600" dirty="0">
                <a:latin typeface="+mn-ea"/>
              </a:rPr>
              <a:t>,</a:t>
            </a:r>
            <a:r>
              <a:rPr lang="ko-KR" altLang="en-US" sz="1600" dirty="0">
                <a:latin typeface="+mn-ea"/>
              </a:rPr>
              <a:t> 기밀성을 보장하지 않음</a:t>
            </a:r>
            <a:endParaRPr sz="1600" dirty="0">
              <a:solidFill>
                <a:srgbClr val="F8FAFC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ple SD Gothic Neo"/>
              </a:defRPr>
            </a:pPr>
            <a:r>
              <a:t>03.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dirty="0"/>
              <a:t>03</a:t>
            </a:r>
            <a:r>
              <a:rPr lang="ko-KR" altLang="en-US" dirty="0"/>
              <a:t> 제안 시스템</a:t>
            </a:r>
            <a:r>
              <a:rPr lang="en-US" altLang="ko-KR" dirty="0"/>
              <a:t>:</a:t>
            </a:r>
            <a:r>
              <a:rPr dirty="0"/>
              <a:t> </a:t>
            </a:r>
            <a:r>
              <a:rPr dirty="0" err="1">
                <a:latin typeface="+mn-ea"/>
              </a:rPr>
              <a:t>핵심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아이디어</a:t>
            </a:r>
            <a:endParaRPr dirty="0">
              <a:latin typeface="+mn-e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23076" y="2461357"/>
            <a:ext cx="4386226" cy="1233861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22770" y="2909010"/>
            <a:ext cx="4386531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sz="1600" dirty="0">
                <a:latin typeface="+mn-ea"/>
              </a:rPr>
              <a:t>① </a:t>
            </a:r>
            <a:r>
              <a:rPr sz="1600" dirty="0" err="1">
                <a:latin typeface="+mn-ea"/>
              </a:rPr>
              <a:t>증명</a:t>
            </a:r>
            <a:r>
              <a:rPr sz="1600" dirty="0">
                <a:latin typeface="+mn-ea"/>
              </a:rPr>
              <a:t> </a:t>
            </a:r>
            <a:r>
              <a:rPr sz="1600" dirty="0" err="1">
                <a:latin typeface="+mn-ea"/>
              </a:rPr>
              <a:t>검색</a:t>
            </a:r>
            <a:r>
              <a:rPr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시스템</a:t>
            </a:r>
            <a:r>
              <a:rPr sz="1600" dirty="0">
                <a:latin typeface="+mn-ea"/>
              </a:rPr>
              <a:t>(Proof Search)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0288A5A9-27FA-1EE3-CA2D-645EF905C086}"/>
              </a:ext>
            </a:extLst>
          </p:cNvPr>
          <p:cNvSpPr/>
          <p:nvPr/>
        </p:nvSpPr>
        <p:spPr>
          <a:xfrm>
            <a:off x="6379467" y="2461357"/>
            <a:ext cx="4386226" cy="1233861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E68BCD-06AF-46A4-749C-5FACA54F1891}"/>
              </a:ext>
            </a:extLst>
          </p:cNvPr>
          <p:cNvSpPr txBox="1"/>
          <p:nvPr/>
        </p:nvSpPr>
        <p:spPr>
          <a:xfrm>
            <a:off x="6379467" y="2924824"/>
            <a:ext cx="438622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lang="en-US" altLang="ko-KR" sz="1600" dirty="0"/>
              <a:t>② </a:t>
            </a:r>
            <a:r>
              <a:rPr lang="ko-KR" altLang="en-US" sz="1600" dirty="0"/>
              <a:t>참고치 기반 오프라인 증명 생성</a:t>
            </a: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284C69DE-3242-92C5-C9DB-509CC8AFB091}"/>
              </a:ext>
            </a:extLst>
          </p:cNvPr>
          <p:cNvSpPr/>
          <p:nvPr/>
        </p:nvSpPr>
        <p:spPr>
          <a:xfrm>
            <a:off x="3995485" y="4131250"/>
            <a:ext cx="4386226" cy="1233861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25E41F-6B34-9CDD-CFE0-DCEBFE5B1BB0}"/>
              </a:ext>
            </a:extLst>
          </p:cNvPr>
          <p:cNvSpPr txBox="1"/>
          <p:nvPr/>
        </p:nvSpPr>
        <p:spPr>
          <a:xfrm>
            <a:off x="3995485" y="4578904"/>
            <a:ext cx="4386226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lang="en-US" altLang="ko-KR" sz="1600" dirty="0"/>
              <a:t>③ </a:t>
            </a:r>
            <a:r>
              <a:rPr lang="ko-KR" altLang="en-US" sz="1600" dirty="0"/>
              <a:t>단일 그룹 </a:t>
            </a:r>
            <a:r>
              <a:rPr lang="ko-KR" altLang="en-US" sz="1600" dirty="0" err="1"/>
              <a:t>커밋을</a:t>
            </a:r>
            <a:r>
              <a:rPr lang="ko-KR" altLang="en-US" sz="1600" dirty="0"/>
              <a:t> 통한 소유권 검증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1E7185-61D6-4AEE-1DFC-985133AEC77B}"/>
              </a:ext>
            </a:extLst>
          </p:cNvPr>
          <p:cNvSpPr txBox="1"/>
          <p:nvPr/>
        </p:nvSpPr>
        <p:spPr>
          <a:xfrm>
            <a:off x="2525457" y="2025325"/>
            <a:ext cx="25811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dirty="0">
                <a:solidFill>
                  <a:schemeClr val="bg1"/>
                </a:solidFill>
              </a:rPr>
              <a:t>데이터가 아닌 증명을 검색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B42A71-EF26-56DF-1F2E-CBC5A11ACA49}"/>
              </a:ext>
            </a:extLst>
          </p:cNvPr>
          <p:cNvSpPr txBox="1"/>
          <p:nvPr/>
        </p:nvSpPr>
        <p:spPr>
          <a:xfrm>
            <a:off x="6825146" y="2025325"/>
            <a:ext cx="34948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dirty="0">
                <a:solidFill>
                  <a:schemeClr val="bg1"/>
                </a:solidFill>
              </a:rPr>
              <a:t>정해진 구간 정보로 사전에 증명 생성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C33B5A-C60C-43BC-5ABC-26DF8186FA70}"/>
              </a:ext>
            </a:extLst>
          </p:cNvPr>
          <p:cNvSpPr txBox="1"/>
          <p:nvPr/>
        </p:nvSpPr>
        <p:spPr>
          <a:xfrm>
            <a:off x="4086900" y="5474211"/>
            <a:ext cx="42033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dirty="0">
                <a:solidFill>
                  <a:schemeClr val="bg1"/>
                </a:solidFill>
              </a:rPr>
              <a:t>복합 쿼리 시 발생하는 소유권 증명 문제 해결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구부러진 연결선[U] 30">
            <a:extLst>
              <a:ext uri="{FF2B5EF4-FFF2-40B4-BE49-F238E27FC236}">
                <a16:creationId xmlns:a16="http://schemas.microsoft.com/office/drawing/2014/main" id="{DF263507-AA83-12E4-FE7D-BAADA0CF16D4}"/>
              </a:ext>
            </a:extLst>
          </p:cNvPr>
          <p:cNvCxnSpPr>
            <a:stCxn id="13" idx="2"/>
            <a:endCxn id="10" idx="2"/>
          </p:cNvCxnSpPr>
          <p:nvPr/>
        </p:nvCxnSpPr>
        <p:spPr>
          <a:xfrm rot="5400000">
            <a:off x="7846477" y="2743778"/>
            <a:ext cx="12700" cy="3379808"/>
          </a:xfrm>
          <a:prstGeom prst="curvedConnector3">
            <a:avLst>
              <a:gd name="adj1" fmla="val 7993551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구부러진 연결선[U] 34">
            <a:extLst>
              <a:ext uri="{FF2B5EF4-FFF2-40B4-BE49-F238E27FC236}">
                <a16:creationId xmlns:a16="http://schemas.microsoft.com/office/drawing/2014/main" id="{3D06793C-17C5-78D3-1733-D3BEE71974AD}"/>
              </a:ext>
            </a:extLst>
          </p:cNvPr>
          <p:cNvCxnSpPr>
            <a:cxnSpLocks/>
            <a:stCxn id="10" idx="0"/>
            <a:endCxn id="13" idx="0"/>
          </p:cNvCxnSpPr>
          <p:nvPr/>
        </p:nvCxnSpPr>
        <p:spPr>
          <a:xfrm rot="5400000" flipH="1" flipV="1">
            <a:off x="7846477" y="1266848"/>
            <a:ext cx="12700" cy="3379808"/>
          </a:xfrm>
          <a:prstGeom prst="curvedConnector3">
            <a:avLst>
              <a:gd name="adj1" fmla="val 7993551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구부러진 연결선[U] 38">
            <a:extLst>
              <a:ext uri="{FF2B5EF4-FFF2-40B4-BE49-F238E27FC236}">
                <a16:creationId xmlns:a16="http://schemas.microsoft.com/office/drawing/2014/main" id="{8E176716-4EC9-4C6A-F78E-02751E4EC4DC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3965486" y="2376282"/>
            <a:ext cx="1002367" cy="1318935"/>
          </a:xfrm>
          <a:prstGeom prst="curvedConnector3">
            <a:avLst>
              <a:gd name="adj1" fmla="val 50000"/>
            </a:avLst>
          </a:prstGeom>
          <a:ln>
            <a:solidFill>
              <a:schemeClr val="bg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9A79677-5997-51F0-AE70-ADE5025EBB7D}"/>
              </a:ext>
            </a:extLst>
          </p:cNvPr>
          <p:cNvCxnSpPr>
            <a:cxnSpLocks/>
          </p:cNvCxnSpPr>
          <p:nvPr/>
        </p:nvCxnSpPr>
        <p:spPr>
          <a:xfrm>
            <a:off x="2455629" y="3114747"/>
            <a:ext cx="0" cy="115052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F3D3AB8-8F3F-1790-82E2-4DE571CB3D69}"/>
              </a:ext>
            </a:extLst>
          </p:cNvPr>
          <p:cNvSpPr txBox="1"/>
          <p:nvPr/>
        </p:nvSpPr>
        <p:spPr>
          <a:xfrm>
            <a:off x="1857597" y="348063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solidFill>
                  <a:schemeClr val="bg1"/>
                </a:solidFill>
              </a:rPr>
              <a:t>발급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CE1F318-5B38-3270-B839-E48044681A8E}"/>
              </a:ext>
            </a:extLst>
          </p:cNvPr>
          <p:cNvCxnSpPr>
            <a:cxnSpLocks/>
          </p:cNvCxnSpPr>
          <p:nvPr/>
        </p:nvCxnSpPr>
        <p:spPr>
          <a:xfrm flipV="1">
            <a:off x="3176752" y="3114747"/>
            <a:ext cx="0" cy="115052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ple SD Gothic Neo"/>
              </a:defRPr>
            </a:pPr>
            <a:r>
              <a:t>03.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dirty="0"/>
              <a:t>03</a:t>
            </a:r>
            <a:r>
              <a:rPr lang="ko-KR" altLang="en-US" dirty="0"/>
              <a:t> 제안 시스템</a:t>
            </a:r>
            <a:r>
              <a:rPr lang="en-US" altLang="ko-KR" dirty="0"/>
              <a:t>: </a:t>
            </a:r>
            <a:r>
              <a:rPr dirty="0" err="1">
                <a:latin typeface="+mn-ea"/>
              </a:rPr>
              <a:t>시스템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구성요소</a:t>
            </a:r>
            <a:r>
              <a:rPr lang="ko-KR" altLang="en-US" dirty="0">
                <a:latin typeface="+mn-ea"/>
              </a:rPr>
              <a:t>와 관계</a:t>
            </a:r>
            <a:endParaRPr dirty="0">
              <a:latin typeface="+mn-e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588046" y="1637817"/>
            <a:ext cx="2377440" cy="147693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25206" y="2083894"/>
            <a:ext cx="2103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sz="1600" dirty="0" err="1">
                <a:latin typeface="+mn-ea"/>
              </a:rPr>
              <a:t>발급기</a:t>
            </a:r>
            <a:r>
              <a:rPr lang="ko-KR" altLang="en-US" sz="1600" dirty="0">
                <a:latin typeface="+mn-ea"/>
              </a:rPr>
              <a:t>관</a:t>
            </a:r>
            <a:r>
              <a:rPr sz="1600" dirty="0">
                <a:latin typeface="+mn-ea"/>
              </a:rPr>
              <a:t> </a:t>
            </a:r>
            <a:endParaRPr lang="en-US" sz="1600" dirty="0">
              <a:latin typeface="+mn-ea"/>
            </a:endParaRPr>
          </a:p>
          <a:p>
            <a:pPr algn="ctr"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sz="1600" dirty="0">
                <a:latin typeface="+mn-ea"/>
              </a:rPr>
              <a:t>(</a:t>
            </a:r>
            <a:r>
              <a:rPr lang="en-US" sz="1600" dirty="0">
                <a:latin typeface="+mn-ea"/>
              </a:rPr>
              <a:t>DI, </a:t>
            </a:r>
            <a:r>
              <a:rPr sz="1600" dirty="0">
                <a:latin typeface="+mn-ea"/>
              </a:rPr>
              <a:t>Data Issuer)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88046" y="4265271"/>
            <a:ext cx="2377440" cy="147693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25206" y="4711347"/>
            <a:ext cx="2103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sz="1600" dirty="0" err="1">
                <a:latin typeface="+mn-ea"/>
              </a:rPr>
              <a:t>소유자</a:t>
            </a:r>
            <a:endParaRPr lang="en-US" sz="1600" dirty="0">
              <a:latin typeface="+mn-ea"/>
            </a:endParaRPr>
          </a:p>
          <a:p>
            <a:pPr algn="ctr"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sz="1600" dirty="0">
                <a:latin typeface="+mn-ea"/>
              </a:rPr>
              <a:t>(</a:t>
            </a:r>
            <a:r>
              <a:rPr lang="en-US" sz="1600" dirty="0">
                <a:latin typeface="+mn-ea"/>
              </a:rPr>
              <a:t>DP, </a:t>
            </a:r>
            <a:r>
              <a:rPr sz="1600" dirty="0">
                <a:latin typeface="+mn-ea"/>
              </a:rPr>
              <a:t>Data Provider)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67853" y="2956752"/>
            <a:ext cx="2377440" cy="147693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05013" y="3402827"/>
            <a:ext cx="2103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sz="1600" dirty="0" err="1">
                <a:latin typeface="+mn-ea"/>
              </a:rPr>
              <a:t>검색</a:t>
            </a:r>
            <a:r>
              <a:rPr sz="1600" dirty="0">
                <a:latin typeface="+mn-ea"/>
              </a:rPr>
              <a:t> </a:t>
            </a:r>
            <a:r>
              <a:rPr sz="1600" dirty="0" err="1">
                <a:latin typeface="+mn-ea"/>
              </a:rPr>
              <a:t>서버</a:t>
            </a:r>
            <a:endParaRPr lang="en-US" sz="1600" dirty="0">
              <a:latin typeface="+mn-ea"/>
            </a:endParaRPr>
          </a:p>
          <a:p>
            <a:pPr algn="ctr"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sz="1600" dirty="0">
                <a:latin typeface="+mn-ea"/>
              </a:rPr>
              <a:t>(</a:t>
            </a:r>
            <a:r>
              <a:rPr lang="en-US" sz="1600" dirty="0">
                <a:latin typeface="+mn-ea"/>
              </a:rPr>
              <a:t>SS, </a:t>
            </a:r>
            <a:r>
              <a:rPr sz="1600" dirty="0">
                <a:latin typeface="+mn-ea"/>
              </a:rPr>
              <a:t>Search Server)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47661" y="2956752"/>
            <a:ext cx="2377440" cy="147693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7661" y="3402826"/>
            <a:ext cx="23618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sz="1600" dirty="0" err="1">
                <a:latin typeface="+mn-ea"/>
              </a:rPr>
              <a:t>수요자</a:t>
            </a:r>
            <a:endParaRPr lang="en-US" sz="1600" dirty="0">
              <a:latin typeface="+mn-ea"/>
            </a:endParaRPr>
          </a:p>
          <a:p>
            <a:pPr algn="ctr"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sz="1600" dirty="0">
                <a:latin typeface="+mn-ea"/>
              </a:rPr>
              <a:t>(</a:t>
            </a:r>
            <a:r>
              <a:rPr lang="en-US" sz="1600" dirty="0">
                <a:latin typeface="+mn-ea"/>
              </a:rPr>
              <a:t>DC, </a:t>
            </a:r>
            <a:r>
              <a:rPr sz="1600" dirty="0">
                <a:latin typeface="+mn-ea"/>
              </a:rPr>
              <a:t>Data Consumer)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F03293-055F-5AAC-AE5F-EB52D4F524A0}"/>
              </a:ext>
            </a:extLst>
          </p:cNvPr>
          <p:cNvSpPr txBox="1"/>
          <p:nvPr/>
        </p:nvSpPr>
        <p:spPr>
          <a:xfrm>
            <a:off x="3179750" y="348063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solidFill>
                  <a:schemeClr val="bg1"/>
                </a:solidFill>
              </a:rPr>
              <a:t>위임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155DCD1-42B8-0610-4601-61B90FEF7A5E}"/>
              </a:ext>
            </a:extLst>
          </p:cNvPr>
          <p:cNvSpPr txBox="1"/>
          <p:nvPr/>
        </p:nvSpPr>
        <p:spPr>
          <a:xfrm>
            <a:off x="4350467" y="2278355"/>
            <a:ext cx="10518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solidFill>
                  <a:schemeClr val="bg1"/>
                </a:solidFill>
              </a:rPr>
              <a:t>증명 전달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58D632-92A9-9870-31C7-F36F644E6914}"/>
              </a:ext>
            </a:extLst>
          </p:cNvPr>
          <p:cNvSpPr txBox="1"/>
          <p:nvPr/>
        </p:nvSpPr>
        <p:spPr>
          <a:xfrm>
            <a:off x="7325340" y="5483568"/>
            <a:ext cx="10518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solidFill>
                  <a:schemeClr val="bg1"/>
                </a:solidFill>
              </a:rPr>
              <a:t>검색 쿼리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8D160D-EBC7-C11F-2B16-EA85EDF3A91D}"/>
              </a:ext>
            </a:extLst>
          </p:cNvPr>
          <p:cNvSpPr txBox="1"/>
          <p:nvPr/>
        </p:nvSpPr>
        <p:spPr>
          <a:xfrm>
            <a:off x="7325341" y="1564016"/>
            <a:ext cx="10518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600" b="1" dirty="0">
                <a:solidFill>
                  <a:schemeClr val="bg1"/>
                </a:solidFill>
              </a:rPr>
              <a:t>검색 결과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ple SD Gothic Neo"/>
              </a:defRPr>
            </a:pPr>
            <a:r>
              <a:t>03.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dirty="0"/>
              <a:t>03</a:t>
            </a:r>
            <a:r>
              <a:rPr lang="ko-KR" altLang="en-US" dirty="0"/>
              <a:t> 제안 시스템</a:t>
            </a:r>
            <a:r>
              <a:rPr lang="en-US" altLang="ko-KR" dirty="0"/>
              <a:t>: </a:t>
            </a:r>
            <a:r>
              <a:rPr dirty="0" err="1">
                <a:latin typeface="+mn-ea"/>
              </a:rPr>
              <a:t>범위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증명</a:t>
            </a:r>
            <a:r>
              <a:rPr dirty="0">
                <a:latin typeface="+mn-ea"/>
              </a:rPr>
              <a:t>(ZKRP) </a:t>
            </a:r>
            <a:r>
              <a:rPr lang="ko-KR" altLang="en-US" dirty="0">
                <a:latin typeface="+mn-ea"/>
              </a:rPr>
              <a:t>회로 구조</a:t>
            </a:r>
            <a:endParaRPr dirty="0">
              <a:latin typeface="+mn-ea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663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17589"/>
            <a:ext cx="47091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lang="ko-KR" altLang="en-US" sz="1600" dirty="0">
                <a:latin typeface="+mn-ea"/>
              </a:rPr>
              <a:t>증명되는 사실</a:t>
            </a:r>
            <a:endParaRPr sz="1600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470916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lang="ko-KR" altLang="en-US" sz="1400" dirty="0">
                <a:solidFill>
                  <a:srgbClr val="F8FAFC"/>
                </a:solidFill>
                <a:latin typeface="+mn-ea"/>
              </a:rPr>
              <a:t>수치가 범위 안에 포함됨</a:t>
            </a:r>
            <a:endParaRPr lang="en-US" altLang="ko-KR" sz="1400" dirty="0">
              <a:solidFill>
                <a:srgbClr val="F8FAFC"/>
              </a:solidFill>
              <a:latin typeface="+mn-ea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lang="ko-KR" altLang="en-US" sz="1400" dirty="0">
                <a:solidFill>
                  <a:srgbClr val="F8FAFC"/>
                </a:solidFill>
                <a:latin typeface="+mn-ea"/>
              </a:rPr>
              <a:t>서명이 올바른 공개키로 검증됨</a:t>
            </a:r>
            <a:endParaRPr lang="en-US" altLang="ko-KR" sz="1400" dirty="0">
              <a:solidFill>
                <a:srgbClr val="F8FAFC"/>
              </a:solidFill>
              <a:latin typeface="+mn-ea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lang="ko-KR" altLang="en-US" sz="1400" dirty="0">
                <a:solidFill>
                  <a:srgbClr val="F8FAFC"/>
                </a:solidFill>
                <a:latin typeface="+mn-ea"/>
              </a:rPr>
              <a:t>공개키가 시스템에 등록된 </a:t>
            </a:r>
            <a:r>
              <a:rPr lang="en-US" altLang="ko-KR" sz="1400" dirty="0">
                <a:solidFill>
                  <a:srgbClr val="F8FAFC"/>
                </a:solidFill>
                <a:latin typeface="+mn-ea"/>
              </a:rPr>
              <a:t>DI</a:t>
            </a:r>
            <a:r>
              <a:rPr lang="ko-KR" altLang="en-US" sz="1400" dirty="0">
                <a:solidFill>
                  <a:srgbClr val="F8FAFC"/>
                </a:solidFill>
                <a:latin typeface="+mn-ea"/>
              </a:rPr>
              <a:t>의 것임</a:t>
            </a:r>
            <a:endParaRPr sz="1400" dirty="0">
              <a:solidFill>
                <a:srgbClr val="F8FAFC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879E61-0A4F-2546-9C7F-0217E516376A}"/>
              </a:ext>
            </a:extLst>
          </p:cNvPr>
          <p:cNvSpPr txBox="1"/>
          <p:nvPr/>
        </p:nvSpPr>
        <p:spPr>
          <a:xfrm>
            <a:off x="960120" y="3950263"/>
            <a:ext cx="47091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lang="ko-KR" altLang="en-US" sz="1600" dirty="0">
                <a:latin typeface="+mn-ea"/>
              </a:rPr>
              <a:t>숨기는 사실</a:t>
            </a:r>
            <a:endParaRPr sz="1600" dirty="0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7EEE99-443B-853D-0473-7CF1BE8E3069}"/>
              </a:ext>
            </a:extLst>
          </p:cNvPr>
          <p:cNvSpPr txBox="1"/>
          <p:nvPr/>
        </p:nvSpPr>
        <p:spPr>
          <a:xfrm>
            <a:off x="960120" y="4355834"/>
            <a:ext cx="47091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lang="ko-KR" altLang="en-US" sz="1400" dirty="0">
                <a:solidFill>
                  <a:srgbClr val="F8FAFC"/>
                </a:solidFill>
                <a:latin typeface="+mn-ea"/>
              </a:rPr>
              <a:t>데이터 원문</a:t>
            </a:r>
            <a:endParaRPr lang="en-US" altLang="ko-KR" sz="1400" dirty="0">
              <a:solidFill>
                <a:srgbClr val="F8FAFC"/>
              </a:solidFill>
              <a:latin typeface="+mn-ea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lang="ko-KR" altLang="en-US" sz="1400" dirty="0">
                <a:solidFill>
                  <a:srgbClr val="F8FAFC"/>
                </a:solidFill>
                <a:latin typeface="+mn-ea"/>
              </a:rPr>
              <a:t>발급 받은 기관</a:t>
            </a:r>
            <a:r>
              <a:rPr lang="en-US" altLang="ko-KR" sz="1400" dirty="0">
                <a:solidFill>
                  <a:srgbClr val="F8FAFC"/>
                </a:solidFill>
                <a:latin typeface="+mn-ea"/>
              </a:rPr>
              <a:t>(DI)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4193E62-5CA1-70EC-71EB-5D4F0997C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122" y="1703776"/>
            <a:ext cx="5166360" cy="39076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ple SD Gothic Neo"/>
              </a:defRPr>
            </a:pPr>
            <a:r>
              <a:t>03.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dirty="0">
                <a:latin typeface="+mn-ea"/>
              </a:rPr>
              <a:t>03</a:t>
            </a:r>
            <a:r>
              <a:rPr lang="ko-KR" altLang="en-US" dirty="0">
                <a:latin typeface="+mn-ea"/>
              </a:rPr>
              <a:t> 제안 시스템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복합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쿼리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처리와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소유권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증명</a:t>
            </a:r>
            <a:r>
              <a:rPr lang="ko-KR" altLang="en-US" dirty="0">
                <a:latin typeface="+mn-ea"/>
              </a:rPr>
              <a:t> 문제</a:t>
            </a:r>
            <a:endParaRPr dirty="0">
              <a:latin typeface="+mn-e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663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47425"/>
            <a:ext cx="4709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sz="1600" dirty="0" err="1">
                <a:latin typeface="+mn-ea"/>
              </a:rPr>
              <a:t>소유권</a:t>
            </a:r>
            <a:r>
              <a:rPr sz="1600" dirty="0">
                <a:latin typeface="+mn-ea"/>
              </a:rPr>
              <a:t> </a:t>
            </a:r>
            <a:r>
              <a:rPr sz="1600" dirty="0" err="1">
                <a:latin typeface="+mn-ea"/>
              </a:rPr>
              <a:t>증명</a:t>
            </a:r>
            <a:r>
              <a:rPr sz="1600" dirty="0">
                <a:latin typeface="+mn-ea"/>
              </a:rPr>
              <a:t> </a:t>
            </a:r>
            <a:r>
              <a:rPr sz="1600" dirty="0" err="1">
                <a:latin typeface="+mn-ea"/>
              </a:rPr>
              <a:t>문제</a:t>
            </a:r>
            <a:endParaRPr sz="1600" dirty="0">
              <a:latin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" y="2404625"/>
            <a:ext cx="470916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923C"/>
                </a:solidFill>
                <a:latin typeface="Apple SD Gothic Neo"/>
              </a:defRPr>
            </a:pPr>
            <a:r>
              <a:rPr sz="1400" dirty="0">
                <a:latin typeface="+mn-ea"/>
              </a:rPr>
              <a:t>■ </a:t>
            </a:r>
            <a:r>
              <a:rPr sz="1400" dirty="0" err="1">
                <a:latin typeface="+mn-ea"/>
              </a:rPr>
              <a:t>복합</a:t>
            </a:r>
            <a:r>
              <a:rPr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쿼리</a:t>
            </a:r>
            <a:r>
              <a:rPr sz="1400" dirty="0">
                <a:latin typeface="+mn-ea"/>
              </a:rPr>
              <a:t> </a:t>
            </a:r>
            <a:r>
              <a:rPr sz="1400" dirty="0" err="1">
                <a:latin typeface="+mn-ea"/>
              </a:rPr>
              <a:t>검색</a:t>
            </a:r>
            <a:r>
              <a:rPr sz="1400" dirty="0">
                <a:latin typeface="+mn-ea"/>
              </a:rPr>
              <a:t> </a:t>
            </a:r>
            <a:r>
              <a:rPr sz="1400" dirty="0" err="1">
                <a:latin typeface="+mn-ea"/>
              </a:rPr>
              <a:t>시</a:t>
            </a:r>
            <a:r>
              <a:rPr lang="en-US" altLang="ko-KR" sz="1400" dirty="0">
                <a:latin typeface="+mn-ea"/>
              </a:rPr>
              <a:t>,</a:t>
            </a:r>
            <a:r>
              <a:rPr sz="1400" dirty="0">
                <a:latin typeface="+mn-ea"/>
              </a:rPr>
              <a:t> </a:t>
            </a:r>
            <a:r>
              <a:rPr sz="1400" dirty="0" err="1">
                <a:latin typeface="+mn-ea"/>
              </a:rPr>
              <a:t>데이터</a:t>
            </a:r>
            <a:r>
              <a:rPr sz="1400" dirty="0">
                <a:latin typeface="+mn-ea"/>
              </a:rPr>
              <a:t> </a:t>
            </a:r>
            <a:r>
              <a:rPr sz="1400" dirty="0" err="1">
                <a:latin typeface="+mn-ea"/>
              </a:rPr>
              <a:t>연계</a:t>
            </a:r>
            <a:r>
              <a:rPr sz="1400" dirty="0">
                <a:latin typeface="+mn-ea"/>
              </a:rPr>
              <a:t> </a:t>
            </a:r>
            <a:r>
              <a:rPr sz="1400" dirty="0" err="1">
                <a:latin typeface="+mn-ea"/>
              </a:rPr>
              <a:t>입증</a:t>
            </a:r>
            <a:r>
              <a:rPr sz="1400" dirty="0">
                <a:latin typeface="+mn-ea"/>
              </a:rPr>
              <a:t> </a:t>
            </a:r>
            <a:r>
              <a:rPr sz="1400" dirty="0" err="1">
                <a:latin typeface="+mn-ea"/>
              </a:rPr>
              <a:t>필요성</a:t>
            </a:r>
            <a:endParaRPr sz="1400" dirty="0">
              <a:latin typeface="+mn-ea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복합 쿼리에 대한 결과는 여러 속성 정보에 대한 증명 데이터의 묶음이어야 한다</a:t>
            </a: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증명 데이터들은 소유자에 따라 서로 다른 그룹으로 묶여야 한다</a:t>
            </a: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하지만 이 과정에서 소유자의 식별자</a:t>
            </a: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(DP_ID)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는 불필요한 외부 정보이므로 공개되지 않아야 한다</a:t>
            </a: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어떻게 소유자의 정체를 공개하지 않으면서 주어진 증명 데이터들이 동일한 소유자의 것임을 증명할 것인가</a:t>
            </a: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?</a:t>
            </a:r>
            <a:endParaRPr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1663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2552906"/>
            <a:ext cx="4709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sz="1600" dirty="0" err="1">
                <a:latin typeface="+mn-ea"/>
              </a:rPr>
              <a:t>해결</a:t>
            </a:r>
            <a:r>
              <a:rPr sz="1600" dirty="0">
                <a:latin typeface="+mn-ea"/>
              </a:rPr>
              <a:t> </a:t>
            </a:r>
            <a:r>
              <a:rPr sz="1600" dirty="0" err="1">
                <a:latin typeface="+mn-ea"/>
              </a:rPr>
              <a:t>방안</a:t>
            </a:r>
            <a:r>
              <a:rPr sz="1600" dirty="0">
                <a:latin typeface="+mn-ea"/>
              </a:rPr>
              <a:t>: </a:t>
            </a:r>
            <a:r>
              <a:rPr sz="1600" dirty="0" err="1">
                <a:latin typeface="+mn-ea"/>
              </a:rPr>
              <a:t>단일</a:t>
            </a:r>
            <a:r>
              <a:rPr sz="1600" dirty="0">
                <a:latin typeface="+mn-ea"/>
              </a:rPr>
              <a:t> </a:t>
            </a:r>
            <a:r>
              <a:rPr sz="1600" dirty="0" err="1">
                <a:latin typeface="+mn-ea"/>
              </a:rPr>
              <a:t>그룹</a:t>
            </a:r>
            <a:r>
              <a:rPr sz="1600" dirty="0">
                <a:latin typeface="+mn-ea"/>
              </a:rPr>
              <a:t> </a:t>
            </a:r>
            <a:r>
              <a:rPr sz="1600" dirty="0" err="1">
                <a:latin typeface="+mn-ea"/>
              </a:rPr>
              <a:t>커밋</a:t>
            </a:r>
            <a:endParaRPr sz="1600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92240" y="3010106"/>
            <a:ext cx="47091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1.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 수요자</a:t>
            </a: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(DC)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가 생성한 임의의 </a:t>
            </a:r>
            <a:r>
              <a:rPr lang="ko-KR" altLang="en-US" sz="1400" dirty="0" err="1">
                <a:solidFill>
                  <a:schemeClr val="bg1"/>
                </a:solidFill>
                <a:latin typeface="+mn-ea"/>
              </a:rPr>
              <a:t>논스를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 포함하여</a:t>
            </a: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 DP_ID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와 증명 식별자들을 묶은 해시 </a:t>
            </a:r>
            <a:r>
              <a:rPr lang="ko-KR" altLang="en-US" sz="1400" dirty="0" err="1">
                <a:solidFill>
                  <a:schemeClr val="bg1"/>
                </a:solidFill>
                <a:latin typeface="+mn-ea"/>
              </a:rPr>
              <a:t>커밋을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 생성한다</a:t>
            </a: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 해당 </a:t>
            </a:r>
            <a:r>
              <a:rPr lang="ko-KR" altLang="en-US" sz="1400" dirty="0" err="1">
                <a:solidFill>
                  <a:schemeClr val="bg1"/>
                </a:solidFill>
                <a:latin typeface="+mn-ea"/>
              </a:rPr>
              <a:t>커밋을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 계산하고 검증하는 </a:t>
            </a:r>
            <a:r>
              <a:rPr lang="en-US" altLang="ko-KR" sz="1400" dirty="0" err="1">
                <a:solidFill>
                  <a:schemeClr val="bg1"/>
                </a:solidFill>
                <a:latin typeface="+mn-ea"/>
              </a:rPr>
              <a:t>zk</a:t>
            </a: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-SNARK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 회로로 증명 데이터를 생성한다</a:t>
            </a: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3.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 검색 결과 반환 시</a:t>
            </a: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,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+mn-ea"/>
              </a:rPr>
              <a:t>커밋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 값과 증명 데이터를 포함한다</a:t>
            </a: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.</a:t>
            </a:r>
            <a:endParaRPr sz="1400" dirty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ple SD Gothic Neo"/>
              </a:defRPr>
            </a:pPr>
            <a:r>
              <a:t>03.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dirty="0"/>
              <a:t>03</a:t>
            </a:r>
            <a:r>
              <a:rPr lang="ko-KR" altLang="en-US" dirty="0"/>
              <a:t> 제안 시스템</a:t>
            </a:r>
            <a:r>
              <a:rPr lang="en-US" altLang="ko-KR" dirty="0"/>
              <a:t>: </a:t>
            </a:r>
            <a:r>
              <a:rPr dirty="0" err="1"/>
              <a:t>소유권</a:t>
            </a:r>
            <a:r>
              <a:rPr dirty="0"/>
              <a:t> </a:t>
            </a:r>
            <a:r>
              <a:rPr dirty="0" err="1"/>
              <a:t>증명</a:t>
            </a:r>
            <a:r>
              <a:rPr dirty="0"/>
              <a:t> </a:t>
            </a:r>
            <a:r>
              <a:rPr dirty="0" err="1"/>
              <a:t>회로</a:t>
            </a:r>
            <a:r>
              <a:rPr lang="ko-KR" altLang="en-US" dirty="0"/>
              <a:t> 구조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663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676474"/>
            <a:ext cx="4709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lang="ko-KR" altLang="en-US" sz="1600" dirty="0">
                <a:latin typeface="+mn-ea"/>
              </a:rPr>
              <a:t>증명되는 사실</a:t>
            </a:r>
            <a:endParaRPr sz="16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9DB1B6-3143-19E9-4182-86E56F43553B}"/>
              </a:ext>
            </a:extLst>
          </p:cNvPr>
          <p:cNvSpPr txBox="1"/>
          <p:nvPr/>
        </p:nvSpPr>
        <p:spPr>
          <a:xfrm>
            <a:off x="960120" y="3142209"/>
            <a:ext cx="36856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solidFill>
                  <a:schemeClr val="bg1"/>
                </a:solidFill>
              </a:rPr>
              <a:t>소유권 증명 </a:t>
            </a:r>
            <a:r>
              <a:rPr kumimoji="1" lang="ko-KR" altLang="en-US" sz="1400" dirty="0" err="1">
                <a:solidFill>
                  <a:schemeClr val="bg1"/>
                </a:solidFill>
              </a:rPr>
              <a:t>커밋이</a:t>
            </a:r>
            <a:r>
              <a:rPr kumimoji="1" lang="ko-KR" altLang="en-US" sz="1400" dirty="0">
                <a:solidFill>
                  <a:schemeClr val="bg1"/>
                </a:solidFill>
              </a:rPr>
              <a:t> 올바르게 계산되었음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756705-6EE7-BC6D-9DCB-6CA7001B2F20}"/>
              </a:ext>
            </a:extLst>
          </p:cNvPr>
          <p:cNvSpPr txBox="1"/>
          <p:nvPr/>
        </p:nvSpPr>
        <p:spPr>
          <a:xfrm>
            <a:off x="960120" y="3770026"/>
            <a:ext cx="4709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lang="ko-KR" altLang="en-US" sz="1600" dirty="0">
                <a:latin typeface="+mn-ea"/>
              </a:rPr>
              <a:t>숨겨지는 사실</a:t>
            </a:r>
            <a:endParaRPr sz="1600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04BBEB-718E-9AA1-3627-79DBF3BF7E24}"/>
              </a:ext>
            </a:extLst>
          </p:cNvPr>
          <p:cNvSpPr txBox="1"/>
          <p:nvPr/>
        </p:nvSpPr>
        <p:spPr>
          <a:xfrm>
            <a:off x="960120" y="4235761"/>
            <a:ext cx="23278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400" dirty="0">
                <a:solidFill>
                  <a:schemeClr val="bg1"/>
                </a:solidFill>
              </a:rPr>
              <a:t>소유자의 식별자</a:t>
            </a:r>
            <a:r>
              <a:rPr kumimoji="1" lang="en-US" altLang="ko-KR" sz="1400" dirty="0">
                <a:solidFill>
                  <a:schemeClr val="bg1"/>
                </a:solidFill>
              </a:rPr>
              <a:t>(DP_ID)</a:t>
            </a:r>
            <a:endParaRPr kumimoji="1" lang="ko-KR" altLang="en-US" sz="1400" dirty="0">
              <a:solidFill>
                <a:schemeClr val="bg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E4A6F94-9855-93A8-1381-F18C1E447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814" y="1799799"/>
            <a:ext cx="5166361" cy="371038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ple SD Gothic Neo"/>
              </a:defRPr>
            </a:pPr>
            <a:r>
              <a:t>04.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dirty="0"/>
              <a:t>04</a:t>
            </a:r>
            <a:r>
              <a:rPr lang="ko-KR" altLang="en-US" dirty="0"/>
              <a:t> 실험 결과</a:t>
            </a:r>
            <a:r>
              <a:rPr lang="en-US" altLang="ko-KR" dirty="0"/>
              <a:t>:</a:t>
            </a:r>
            <a:r>
              <a:rPr dirty="0"/>
              <a:t> </a:t>
            </a:r>
            <a:r>
              <a:rPr dirty="0" err="1"/>
              <a:t>마이크로</a:t>
            </a:r>
            <a:r>
              <a:rPr dirty="0"/>
              <a:t> </a:t>
            </a:r>
            <a:r>
              <a:rPr dirty="0" err="1"/>
              <a:t>벤치마</a:t>
            </a:r>
            <a:r>
              <a:rPr lang="ko-KR" altLang="en-US" dirty="0"/>
              <a:t>크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708695"/>
            <a:ext cx="5364480" cy="176727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845855"/>
            <a:ext cx="48920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dirty="0"/>
              <a:t>1. </a:t>
            </a:r>
            <a:r>
              <a:rPr dirty="0" err="1"/>
              <a:t>범위</a:t>
            </a:r>
            <a:r>
              <a:rPr dirty="0"/>
              <a:t> </a:t>
            </a:r>
            <a:r>
              <a:rPr dirty="0" err="1"/>
              <a:t>증명</a:t>
            </a:r>
            <a:r>
              <a:rPr dirty="0"/>
              <a:t> </a:t>
            </a:r>
            <a:r>
              <a:rPr dirty="0" err="1"/>
              <a:t>마이크로</a:t>
            </a:r>
            <a:r>
              <a:rPr dirty="0"/>
              <a:t> </a:t>
            </a:r>
            <a:r>
              <a:rPr dirty="0" err="1"/>
              <a:t>벤치마크</a:t>
            </a:r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886907"/>
              </p:ext>
            </p:extLst>
          </p:nvPr>
        </p:nvGraphicFramePr>
        <p:xfrm>
          <a:off x="1051559" y="2387611"/>
          <a:ext cx="4648487" cy="8367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7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37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37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90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200" dirty="0">
                          <a:latin typeface="+mn-ea"/>
                          <a:ea typeface="+mn-ea"/>
                        </a:rPr>
                        <a:t>DI </a:t>
                      </a:r>
                      <a:r>
                        <a:rPr sz="1200" dirty="0" err="1">
                          <a:latin typeface="+mn-ea"/>
                          <a:ea typeface="+mn-ea"/>
                        </a:rPr>
                        <a:t>개수</a:t>
                      </a:r>
                      <a:endParaRPr sz="1200" dirty="0">
                        <a:latin typeface="+mn-ea"/>
                        <a:ea typeface="+mn-ea"/>
                      </a:endParaRPr>
                    </a:p>
                  </a:txBody>
                  <a:tcPr marL="92970" marR="92970" marT="46484" marB="4648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200">
                          <a:latin typeface="+mn-ea"/>
                          <a:ea typeface="+mn-ea"/>
                        </a:rPr>
                        <a:t>128</a:t>
                      </a:r>
                    </a:p>
                  </a:txBody>
                  <a:tcPr marL="92970" marR="92970" marT="46484" marB="4648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200">
                          <a:latin typeface="+mn-ea"/>
                          <a:ea typeface="+mn-ea"/>
                        </a:rPr>
                        <a:t>256</a:t>
                      </a:r>
                    </a:p>
                  </a:txBody>
                  <a:tcPr marL="92970" marR="92970" marT="46484" marB="4648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200" dirty="0">
                          <a:latin typeface="+mn-ea"/>
                          <a:ea typeface="+mn-ea"/>
                        </a:rPr>
                        <a:t>512</a:t>
                      </a:r>
                    </a:p>
                  </a:txBody>
                  <a:tcPr marL="92970" marR="92970" marT="46484" marB="4648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200">
                          <a:latin typeface="+mn-ea"/>
                          <a:ea typeface="+mn-ea"/>
                        </a:rPr>
                        <a:t>1024</a:t>
                      </a:r>
                    </a:p>
                  </a:txBody>
                  <a:tcPr marL="92970" marR="92970" marT="46484" marB="46484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90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 dirty="0" err="1">
                          <a:latin typeface="+mn-ea"/>
                          <a:ea typeface="+mn-ea"/>
                        </a:rPr>
                        <a:t>증명생성시간</a:t>
                      </a:r>
                      <a:r>
                        <a:rPr sz="1050" dirty="0">
                          <a:latin typeface="+mn-ea"/>
                          <a:ea typeface="+mn-ea"/>
                        </a:rPr>
                        <a:t> (</a:t>
                      </a:r>
                      <a:r>
                        <a:rPr sz="1050" dirty="0" err="1">
                          <a:latin typeface="+mn-ea"/>
                          <a:ea typeface="+mn-ea"/>
                        </a:rPr>
                        <a:t>ms</a:t>
                      </a:r>
                      <a:r>
                        <a:rPr sz="105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2970" marR="92970" marT="46484" marB="4648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75</a:t>
                      </a:r>
                    </a:p>
                  </a:txBody>
                  <a:tcPr marL="92970" marR="92970" marT="46484" marB="4648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80</a:t>
                      </a:r>
                    </a:p>
                  </a:txBody>
                  <a:tcPr marL="92970" marR="92970" marT="46484" marB="4648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83</a:t>
                      </a:r>
                    </a:p>
                  </a:txBody>
                  <a:tcPr marL="92970" marR="92970" marT="46484" marB="4648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 dirty="0">
                          <a:latin typeface="+mn-ea"/>
                          <a:ea typeface="+mn-ea"/>
                        </a:rPr>
                        <a:t>86</a:t>
                      </a:r>
                    </a:p>
                  </a:txBody>
                  <a:tcPr marL="92970" marR="92970" marT="46484" marB="46484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90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 dirty="0" err="1">
                          <a:latin typeface="+mn-ea"/>
                          <a:ea typeface="+mn-ea"/>
                        </a:rPr>
                        <a:t>증명</a:t>
                      </a:r>
                      <a:r>
                        <a:rPr sz="10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sz="1050" dirty="0" err="1">
                          <a:latin typeface="+mn-ea"/>
                          <a:ea typeface="+mn-ea"/>
                        </a:rPr>
                        <a:t>크기</a:t>
                      </a:r>
                      <a:r>
                        <a:rPr sz="1050" dirty="0">
                          <a:latin typeface="+mn-ea"/>
                          <a:ea typeface="+mn-ea"/>
                        </a:rPr>
                        <a:t> (Bytes)</a:t>
                      </a:r>
                    </a:p>
                  </a:txBody>
                  <a:tcPr marL="92970" marR="92970" marT="46484" marB="4648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164</a:t>
                      </a:r>
                    </a:p>
                  </a:txBody>
                  <a:tcPr marL="92970" marR="92970" marT="46484" marB="4648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 dirty="0">
                          <a:latin typeface="+mn-ea"/>
                          <a:ea typeface="+mn-ea"/>
                        </a:rPr>
                        <a:t>164</a:t>
                      </a:r>
                    </a:p>
                  </a:txBody>
                  <a:tcPr marL="92970" marR="92970" marT="46484" marB="4648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164</a:t>
                      </a:r>
                    </a:p>
                  </a:txBody>
                  <a:tcPr marL="92970" marR="92970" marT="46484" marB="46484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 dirty="0">
                          <a:latin typeface="+mn-ea"/>
                          <a:ea typeface="+mn-ea"/>
                        </a:rPr>
                        <a:t>164</a:t>
                      </a:r>
                    </a:p>
                  </a:txBody>
                  <a:tcPr marL="92970" marR="92970" marT="46484" marB="46484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3629579"/>
            <a:ext cx="5364480" cy="165446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766739"/>
            <a:ext cx="48920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dirty="0"/>
              <a:t>2. </a:t>
            </a:r>
            <a:r>
              <a:rPr dirty="0" err="1"/>
              <a:t>소유권</a:t>
            </a:r>
            <a:r>
              <a:rPr dirty="0"/>
              <a:t> </a:t>
            </a:r>
            <a:r>
              <a:rPr dirty="0" err="1"/>
              <a:t>증명</a:t>
            </a:r>
            <a:r>
              <a:rPr dirty="0"/>
              <a:t> </a:t>
            </a:r>
            <a:r>
              <a:rPr dirty="0" err="1"/>
              <a:t>마이크로</a:t>
            </a:r>
            <a:r>
              <a:rPr dirty="0"/>
              <a:t> </a:t>
            </a:r>
            <a:r>
              <a:rPr dirty="0" err="1"/>
              <a:t>벤치마크</a:t>
            </a:r>
            <a:endParaRPr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81781"/>
              </p:ext>
            </p:extLst>
          </p:nvPr>
        </p:nvGraphicFramePr>
        <p:xfrm>
          <a:off x="1028700" y="4151018"/>
          <a:ext cx="4671345" cy="840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7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7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028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200" dirty="0" err="1">
                          <a:latin typeface="+mn-ea"/>
                          <a:ea typeface="+mn-ea"/>
                        </a:rPr>
                        <a:t>서브쿼리</a:t>
                      </a:r>
                      <a:r>
                        <a:rPr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sz="1200" dirty="0" err="1">
                          <a:latin typeface="+mn-ea"/>
                          <a:ea typeface="+mn-ea"/>
                        </a:rPr>
                        <a:t>개수</a:t>
                      </a:r>
                      <a:endParaRPr sz="1200" dirty="0">
                        <a:latin typeface="+mn-ea"/>
                        <a:ea typeface="+mn-ea"/>
                      </a:endParaRP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200" dirty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200" dirty="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200" dirty="0"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200" dirty="0"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100" dirty="0" err="1">
                          <a:latin typeface="+mn-ea"/>
                          <a:ea typeface="+mn-ea"/>
                        </a:rPr>
                        <a:t>증명생성시간</a:t>
                      </a:r>
                      <a:r>
                        <a:rPr sz="1100" dirty="0">
                          <a:latin typeface="+mn-ea"/>
                          <a:ea typeface="+mn-ea"/>
                        </a:rPr>
                        <a:t> (</a:t>
                      </a:r>
                      <a:r>
                        <a:rPr sz="1100" dirty="0" err="1">
                          <a:latin typeface="+mn-ea"/>
                          <a:ea typeface="+mn-ea"/>
                        </a:rPr>
                        <a:t>ms</a:t>
                      </a:r>
                      <a:r>
                        <a:rPr sz="11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100"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100"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100"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100" dirty="0"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100">
                          <a:latin typeface="+mn-ea"/>
                          <a:ea typeface="+mn-ea"/>
                        </a:rPr>
                        <a:t>증명 크기 (Bytes)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100">
                          <a:latin typeface="+mn-ea"/>
                          <a:ea typeface="+mn-ea"/>
                        </a:rPr>
                        <a:t>164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100">
                          <a:latin typeface="+mn-ea"/>
                          <a:ea typeface="+mn-ea"/>
                        </a:rPr>
                        <a:t>164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100" dirty="0">
                          <a:latin typeface="+mn-ea"/>
                          <a:ea typeface="+mn-ea"/>
                        </a:rPr>
                        <a:t>164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100" dirty="0">
                          <a:latin typeface="+mn-ea"/>
                          <a:ea typeface="+mn-ea"/>
                        </a:rPr>
                        <a:t>164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7E1E6FDF-BB18-0E1C-9DBE-D6AE23D51FCF}"/>
              </a:ext>
            </a:extLst>
          </p:cNvPr>
          <p:cNvSpPr/>
          <p:nvPr/>
        </p:nvSpPr>
        <p:spPr>
          <a:xfrm>
            <a:off x="6233160" y="2485693"/>
            <a:ext cx="5364480" cy="1980543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8235EB-424A-E85F-FB32-F56406D53CB1}"/>
              </a:ext>
            </a:extLst>
          </p:cNvPr>
          <p:cNvSpPr txBox="1"/>
          <p:nvPr/>
        </p:nvSpPr>
        <p:spPr>
          <a:xfrm>
            <a:off x="6370320" y="2622853"/>
            <a:ext cx="48920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lang="en-US" altLang="ko-KR" dirty="0"/>
              <a:t>3.</a:t>
            </a:r>
            <a:r>
              <a:rPr lang="ko-KR" altLang="en-US" dirty="0"/>
              <a:t> </a:t>
            </a:r>
            <a:r>
              <a:rPr lang="ko-KR" altLang="en-US" dirty="0" err="1"/>
              <a:t>복합쿼리</a:t>
            </a:r>
            <a:r>
              <a:rPr lang="ko-KR" altLang="en-US" dirty="0"/>
              <a:t> 벤치마크</a:t>
            </a:r>
            <a:endParaRPr dirty="0"/>
          </a:p>
        </p:txBody>
      </p:sp>
      <p:graphicFrame>
        <p:nvGraphicFramePr>
          <p:cNvPr id="17" name="Table 9">
            <a:extLst>
              <a:ext uri="{FF2B5EF4-FFF2-40B4-BE49-F238E27FC236}">
                <a16:creationId xmlns:a16="http://schemas.microsoft.com/office/drawing/2014/main" id="{32D557FD-C992-2FF7-DDCB-1B3A90A28C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572712"/>
              </p:ext>
            </p:extLst>
          </p:nvPr>
        </p:nvGraphicFramePr>
        <p:xfrm>
          <a:off x="6530340" y="3007132"/>
          <a:ext cx="4671345" cy="1121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7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7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028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200" dirty="0" err="1">
                          <a:latin typeface="+mn-ea"/>
                          <a:ea typeface="+mn-ea"/>
                        </a:rPr>
                        <a:t>서브쿼리</a:t>
                      </a:r>
                      <a:r>
                        <a:rPr sz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sz="1200" dirty="0" err="1">
                          <a:latin typeface="+mn-ea"/>
                          <a:ea typeface="+mn-ea"/>
                        </a:rPr>
                        <a:t>개수</a:t>
                      </a:r>
                      <a:endParaRPr sz="1200" dirty="0">
                        <a:latin typeface="+mn-ea"/>
                        <a:ea typeface="+mn-ea"/>
                      </a:endParaRP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200" dirty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200" dirty="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200" dirty="0"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200" dirty="0"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전체 시간</a:t>
                      </a:r>
                      <a:r>
                        <a:rPr sz="1100" dirty="0">
                          <a:latin typeface="+mn-ea"/>
                          <a:ea typeface="+mn-ea"/>
                        </a:rPr>
                        <a:t> (</a:t>
                      </a:r>
                      <a:r>
                        <a:rPr sz="1100" dirty="0" err="1">
                          <a:latin typeface="+mn-ea"/>
                          <a:ea typeface="+mn-ea"/>
                        </a:rPr>
                        <a:t>ms</a:t>
                      </a:r>
                      <a:r>
                        <a:rPr sz="11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lang="en-US" sz="1100" dirty="0">
                          <a:latin typeface="+mn-ea"/>
                          <a:ea typeface="+mn-ea"/>
                        </a:rPr>
                        <a:t>3,711</a:t>
                      </a:r>
                      <a:endParaRPr sz="1100" dirty="0">
                        <a:latin typeface="+mn-ea"/>
                        <a:ea typeface="+mn-ea"/>
                      </a:endParaRP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lang="en-US" sz="1100" dirty="0">
                          <a:latin typeface="+mn-ea"/>
                          <a:ea typeface="+mn-ea"/>
                        </a:rPr>
                        <a:t>5,340</a:t>
                      </a:r>
                      <a:endParaRPr sz="1100" dirty="0">
                        <a:latin typeface="+mn-ea"/>
                        <a:ea typeface="+mn-ea"/>
                      </a:endParaRP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lang="en-US" sz="1100" dirty="0">
                          <a:latin typeface="+mn-ea"/>
                          <a:ea typeface="+mn-ea"/>
                        </a:rPr>
                        <a:t>7,156</a:t>
                      </a:r>
                      <a:endParaRPr sz="1100" dirty="0">
                        <a:latin typeface="+mn-ea"/>
                        <a:ea typeface="+mn-ea"/>
                      </a:endParaRP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lang="en-US" sz="1100" dirty="0">
                          <a:latin typeface="+mn-ea"/>
                          <a:ea typeface="+mn-ea"/>
                        </a:rPr>
                        <a:t>9,019</a:t>
                      </a:r>
                      <a:endParaRPr sz="1100" dirty="0">
                        <a:latin typeface="+mn-ea"/>
                        <a:ea typeface="+mn-ea"/>
                      </a:endParaRP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lang="en-US" sz="1100" dirty="0">
                          <a:latin typeface="+mn-ea"/>
                          <a:ea typeface="+mn-ea"/>
                        </a:rPr>
                        <a:t>DB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 조회 시간 </a:t>
                      </a:r>
                      <a:r>
                        <a:rPr sz="11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100" dirty="0" err="1">
                          <a:latin typeface="+mn-ea"/>
                          <a:ea typeface="+mn-ea"/>
                        </a:rPr>
                        <a:t>ms</a:t>
                      </a:r>
                      <a:r>
                        <a:rPr sz="11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lang="en-US" sz="1100" dirty="0">
                          <a:latin typeface="+mn-ea"/>
                          <a:ea typeface="+mn-ea"/>
                        </a:rPr>
                        <a:t>3,253</a:t>
                      </a:r>
                      <a:endParaRPr sz="1100" dirty="0">
                        <a:latin typeface="+mn-ea"/>
                        <a:ea typeface="+mn-ea"/>
                      </a:endParaRP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lang="en-US" sz="1100" dirty="0">
                          <a:latin typeface="+mn-ea"/>
                          <a:ea typeface="+mn-ea"/>
                        </a:rPr>
                        <a:t>4,878</a:t>
                      </a:r>
                      <a:endParaRPr sz="1100" dirty="0">
                        <a:latin typeface="+mn-ea"/>
                        <a:ea typeface="+mn-ea"/>
                      </a:endParaRP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lang="en-US" sz="1100" dirty="0">
                          <a:latin typeface="+mn-ea"/>
                          <a:ea typeface="+mn-ea"/>
                        </a:rPr>
                        <a:t>6,696</a:t>
                      </a:r>
                      <a:endParaRPr sz="1100" dirty="0">
                        <a:latin typeface="+mn-ea"/>
                        <a:ea typeface="+mn-ea"/>
                      </a:endParaRP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lang="en-US" sz="1100" dirty="0">
                          <a:latin typeface="+mn-ea"/>
                          <a:ea typeface="+mn-ea"/>
                        </a:rPr>
                        <a:t>8,556</a:t>
                      </a:r>
                      <a:endParaRPr sz="1100" dirty="0">
                        <a:latin typeface="+mn-ea"/>
                        <a:ea typeface="+mn-ea"/>
                      </a:endParaRP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281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증명 생성 시간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 (</a:t>
                      </a:r>
                      <a:r>
                        <a:rPr lang="en-US" altLang="ko-KR" sz="1100" dirty="0" err="1">
                          <a:latin typeface="+mn-ea"/>
                          <a:ea typeface="+mn-ea"/>
                        </a:rPr>
                        <a:t>ms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)</a:t>
                      </a:r>
                      <a:endParaRPr sz="1100" dirty="0">
                        <a:latin typeface="+mn-ea"/>
                        <a:ea typeface="+mn-ea"/>
                      </a:endParaRP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lang="en-US" sz="1100" dirty="0">
                          <a:latin typeface="+mn-ea"/>
                          <a:ea typeface="+mn-ea"/>
                        </a:rPr>
                        <a:t>454</a:t>
                      </a:r>
                      <a:endParaRPr sz="1100" dirty="0">
                        <a:latin typeface="+mn-ea"/>
                        <a:ea typeface="+mn-ea"/>
                      </a:endParaRP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lang="en-US" sz="1100" dirty="0">
                          <a:latin typeface="+mn-ea"/>
                          <a:ea typeface="+mn-ea"/>
                        </a:rPr>
                        <a:t>458</a:t>
                      </a:r>
                      <a:endParaRPr sz="1100" dirty="0">
                        <a:latin typeface="+mn-ea"/>
                        <a:ea typeface="+mn-ea"/>
                      </a:endParaRP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lang="en-US" sz="1100" dirty="0">
                          <a:latin typeface="+mn-ea"/>
                          <a:ea typeface="+mn-ea"/>
                        </a:rPr>
                        <a:t>457</a:t>
                      </a:r>
                      <a:endParaRPr sz="1100" dirty="0">
                        <a:latin typeface="+mn-ea"/>
                        <a:ea typeface="+mn-ea"/>
                      </a:endParaRP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lang="en-US" sz="1100" dirty="0">
                          <a:latin typeface="+mn-ea"/>
                          <a:ea typeface="+mn-ea"/>
                        </a:rPr>
                        <a:t>459</a:t>
                      </a:r>
                      <a:endParaRPr sz="1100" dirty="0">
                        <a:latin typeface="+mn-ea"/>
                        <a:ea typeface="+mn-ea"/>
                      </a:endParaRPr>
                    </a:p>
                  </a:txBody>
                  <a:tcPr marL="93427" marR="93427" marT="46713" marB="46713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1997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ple SD Gothic Neo"/>
              </a:defRPr>
            </a:pPr>
            <a:r>
              <a:t>04.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dirty="0"/>
              <a:t>04</a:t>
            </a:r>
            <a:r>
              <a:rPr lang="ko-KR" altLang="en-US" dirty="0"/>
              <a:t> 실험 결과</a:t>
            </a:r>
            <a:r>
              <a:rPr lang="en-US" altLang="ko-KR" dirty="0"/>
              <a:t>: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방식</a:t>
            </a:r>
            <a:r>
              <a:rPr dirty="0"/>
              <a:t>(Proposed vs Baseline) </a:t>
            </a:r>
            <a:r>
              <a:rPr dirty="0" err="1"/>
              <a:t>비교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3512820" y="1371600"/>
            <a:ext cx="5166360" cy="459671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32860" y="1659231"/>
            <a:ext cx="448296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lang="ko-KR" altLang="en-US" dirty="0">
                <a:latin typeface="+mn-ea"/>
              </a:rPr>
              <a:t>응답 시간 비교</a:t>
            </a:r>
            <a:endParaRPr lang="en-US" dirty="0">
              <a:latin typeface="+mn-ea"/>
            </a:endParaRPr>
          </a:p>
          <a:p>
            <a:pPr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단일 쿼리 </a:t>
            </a:r>
            <a:r>
              <a:rPr lang="en-US" altLang="ko-KR" dirty="0">
                <a:latin typeface="+mn-ea"/>
              </a:rPr>
              <a:t>100</a:t>
            </a:r>
            <a:r>
              <a:rPr lang="ko-KR" altLang="en-US" dirty="0">
                <a:latin typeface="+mn-ea"/>
              </a:rPr>
              <a:t>회 평균</a:t>
            </a:r>
            <a:r>
              <a:rPr lang="en-US" altLang="ko-KR" dirty="0">
                <a:latin typeface="+mn-ea"/>
              </a:rPr>
              <a:t>, </a:t>
            </a:r>
            <a:r>
              <a:rPr lang="en" dirty="0">
                <a:latin typeface="+mn-ea"/>
              </a:rPr>
              <a:t>DI 128, Page 30</a:t>
            </a:r>
            <a:r>
              <a:rPr dirty="0">
                <a:latin typeface="+mn-ea"/>
              </a:rPr>
              <a:t>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612596"/>
              </p:ext>
            </p:extLst>
          </p:nvPr>
        </p:nvGraphicFramePr>
        <p:xfrm>
          <a:off x="3832860" y="2299311"/>
          <a:ext cx="4482967" cy="3163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33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050" dirty="0" err="1">
                          <a:latin typeface="+mn-ea"/>
                          <a:ea typeface="+mn-ea"/>
                        </a:rPr>
                        <a:t>지표</a:t>
                      </a:r>
                      <a:r>
                        <a:rPr sz="1050" dirty="0">
                          <a:latin typeface="+mn-ea"/>
                          <a:ea typeface="+mn-ea"/>
                        </a:rPr>
                        <a:t> (</a:t>
                      </a:r>
                      <a:r>
                        <a:rPr sz="1050" dirty="0" err="1">
                          <a:latin typeface="+mn-ea"/>
                          <a:ea typeface="+mn-ea"/>
                        </a:rPr>
                        <a:t>ms</a:t>
                      </a:r>
                      <a:r>
                        <a:rPr sz="105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050" dirty="0">
                          <a:latin typeface="+mn-ea"/>
                          <a:ea typeface="+mn-ea"/>
                        </a:rPr>
                        <a:t>Baseline</a:t>
                      </a:r>
                      <a:endParaRPr lang="en-US" sz="1050" dirty="0">
                        <a:latin typeface="+mn-ea"/>
                        <a:ea typeface="+mn-ea"/>
                      </a:endParaRPr>
                    </a:p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050" dirty="0">
                          <a:latin typeface="+mn-ea"/>
                          <a:ea typeface="+mn-ea"/>
                        </a:rPr>
                        <a:t>(Raw)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050" dirty="0">
                          <a:latin typeface="+mn-ea"/>
                          <a:ea typeface="+mn-ea"/>
                        </a:rPr>
                        <a:t>Baseline</a:t>
                      </a:r>
                      <a:endParaRPr lang="en-US" sz="1050" dirty="0">
                        <a:latin typeface="+mn-ea"/>
                        <a:ea typeface="+mn-ea"/>
                      </a:endParaRPr>
                    </a:p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050" dirty="0">
                          <a:latin typeface="+mn-ea"/>
                          <a:ea typeface="+mn-ea"/>
                        </a:rPr>
                        <a:t>(Enc)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050" dirty="0" err="1">
                          <a:latin typeface="+mn-ea"/>
                          <a:ea typeface="+mn-ea"/>
                        </a:rPr>
                        <a:t>제안</a:t>
                      </a:r>
                      <a:r>
                        <a:rPr sz="1050" dirty="0">
                          <a:latin typeface="+mn-ea"/>
                          <a:ea typeface="+mn-ea"/>
                        </a:rPr>
                        <a:t> </a:t>
                      </a:r>
                      <a:r>
                        <a:rPr sz="1050" dirty="0" err="1">
                          <a:latin typeface="+mn-ea"/>
                          <a:ea typeface="+mn-ea"/>
                        </a:rPr>
                        <a:t>시스템</a:t>
                      </a:r>
                      <a:endParaRPr lang="en-US" sz="1050" dirty="0">
                        <a:latin typeface="+mn-ea"/>
                        <a:ea typeface="+mn-ea"/>
                      </a:endParaRPr>
                    </a:p>
                    <a:p>
                      <a:pPr algn="ctr">
                        <a:defRPr sz="10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050" dirty="0">
                          <a:latin typeface="+mn-ea"/>
                          <a:ea typeface="+mn-ea"/>
                        </a:rPr>
                        <a:t>(Proposed)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 dirty="0">
                          <a:latin typeface="+mn-ea"/>
                          <a:ea typeface="+mn-ea"/>
                        </a:rPr>
                        <a:t>DB Fetch (</a:t>
                      </a:r>
                      <a:r>
                        <a:rPr sz="1050" dirty="0" err="1">
                          <a:latin typeface="+mn-ea"/>
                          <a:ea typeface="+mn-ea"/>
                        </a:rPr>
                        <a:t>평균</a:t>
                      </a:r>
                      <a:r>
                        <a:rPr sz="105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97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269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31</a:t>
                      </a:r>
                    </a:p>
                  </a:txBody>
                  <a:tcPr marL="83018" marR="83018" marT="41509" marB="41509" anchor="ctr">
                    <a:solidFill>
                      <a:srgbClr val="263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 dirty="0">
                          <a:latin typeface="+mn-ea"/>
                          <a:ea typeface="+mn-ea"/>
                        </a:rPr>
                        <a:t>Overall (</a:t>
                      </a:r>
                      <a:r>
                        <a:rPr sz="1050" dirty="0" err="1">
                          <a:latin typeface="+mn-ea"/>
                          <a:ea typeface="+mn-ea"/>
                        </a:rPr>
                        <a:t>평균</a:t>
                      </a:r>
                      <a:r>
                        <a:rPr sz="105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2242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2405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315</a:t>
                      </a:r>
                    </a:p>
                  </a:txBody>
                  <a:tcPr marL="83018" marR="83018" marT="41509" marB="41509" anchor="ctr">
                    <a:solidFill>
                      <a:srgbClr val="263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 dirty="0" err="1">
                          <a:latin typeface="+mn-ea"/>
                          <a:ea typeface="+mn-ea"/>
                        </a:rPr>
                        <a:t>편차</a:t>
                      </a:r>
                      <a:endParaRPr sz="1050" dirty="0">
                        <a:latin typeface="+mn-ea"/>
                        <a:ea typeface="+mn-ea"/>
                      </a:endParaRP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 dirty="0">
                          <a:latin typeface="+mn-ea"/>
                          <a:ea typeface="+mn-ea"/>
                        </a:rPr>
                        <a:t>209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203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72</a:t>
                      </a:r>
                    </a:p>
                  </a:txBody>
                  <a:tcPr marL="83018" marR="83018" marT="41509" marB="41509" anchor="ctr">
                    <a:solidFill>
                      <a:srgbClr val="263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 dirty="0">
                          <a:latin typeface="+mn-ea"/>
                          <a:ea typeface="+mn-ea"/>
                        </a:rPr>
                        <a:t>p50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2245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2411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292</a:t>
                      </a:r>
                    </a:p>
                  </a:txBody>
                  <a:tcPr marL="83018" marR="83018" marT="41509" marB="41509" anchor="ctr">
                    <a:solidFill>
                      <a:srgbClr val="263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 dirty="0">
                          <a:latin typeface="+mn-ea"/>
                          <a:ea typeface="+mn-ea"/>
                        </a:rPr>
                        <a:t>p90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 dirty="0">
                          <a:latin typeface="+mn-ea"/>
                          <a:ea typeface="+mn-ea"/>
                        </a:rPr>
                        <a:t>2326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2444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360</a:t>
                      </a:r>
                    </a:p>
                  </a:txBody>
                  <a:tcPr marL="83018" marR="83018" marT="41509" marB="41509" anchor="ctr">
                    <a:solidFill>
                      <a:srgbClr val="263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 dirty="0">
                          <a:latin typeface="+mn-ea"/>
                          <a:ea typeface="+mn-ea"/>
                        </a:rPr>
                        <a:t>p95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2370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 dirty="0">
                          <a:latin typeface="+mn-ea"/>
                          <a:ea typeface="+mn-ea"/>
                        </a:rPr>
                        <a:t>2485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372</a:t>
                      </a:r>
                    </a:p>
                  </a:txBody>
                  <a:tcPr marL="83018" marR="83018" marT="41509" marB="41509" anchor="ctr">
                    <a:solidFill>
                      <a:srgbClr val="263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 dirty="0">
                          <a:latin typeface="+mn-ea"/>
                          <a:ea typeface="+mn-ea"/>
                        </a:rPr>
                        <a:t>p99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>
                          <a:latin typeface="+mn-ea"/>
                          <a:ea typeface="+mn-ea"/>
                        </a:rPr>
                        <a:t>2460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F8FAFC"/>
                          </a:solidFill>
                          <a:latin typeface="Apple SD Gothic Neo"/>
                        </a:defRPr>
                      </a:pPr>
                      <a:r>
                        <a:rPr sz="1050" dirty="0">
                          <a:latin typeface="+mn-ea"/>
                          <a:ea typeface="+mn-ea"/>
                        </a:rPr>
                        <a:t>2806</a:t>
                      </a:r>
                    </a:p>
                  </a:txBody>
                  <a:tcPr marL="83018" marR="83018" marT="41509" marB="41509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22D3EE"/>
                          </a:solidFill>
                          <a:latin typeface="Apple SD Gothic Neo"/>
                        </a:defRPr>
                      </a:pPr>
                      <a:r>
                        <a:rPr sz="1050" dirty="0">
                          <a:latin typeface="+mn-ea"/>
                          <a:ea typeface="+mn-ea"/>
                        </a:rPr>
                        <a:t>390</a:t>
                      </a:r>
                    </a:p>
                  </a:txBody>
                  <a:tcPr marL="83018" marR="83018" marT="41509" marB="41509" anchor="ctr">
                    <a:solidFill>
                      <a:srgbClr val="263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4B4A8-A353-66AF-014D-D9F78917D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DB3CE5-F7AF-F9ED-910C-BEEEB8460A3C}"/>
              </a:ext>
            </a:extLst>
          </p:cNvPr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ple SD Gothic Neo"/>
              </a:defRPr>
            </a:pPr>
            <a:r>
              <a:t>04.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943F2B-ADFC-C0CB-F596-F05DD801ED8D}"/>
              </a:ext>
            </a:extLst>
          </p:cNvPr>
          <p:cNvSpPr txBox="1"/>
          <p:nvPr/>
        </p:nvSpPr>
        <p:spPr>
          <a:xfrm>
            <a:off x="731520" y="594360"/>
            <a:ext cx="10728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dirty="0"/>
              <a:t>04</a:t>
            </a:r>
            <a:r>
              <a:rPr lang="ko-KR" altLang="en-US" dirty="0"/>
              <a:t> 실험 결과</a:t>
            </a:r>
            <a:r>
              <a:rPr lang="en-US" altLang="ko-KR" dirty="0"/>
              <a:t>: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방식</a:t>
            </a:r>
            <a:r>
              <a:rPr dirty="0"/>
              <a:t>(Proposed vs Baseline) </a:t>
            </a:r>
            <a:r>
              <a:rPr dirty="0" err="1"/>
              <a:t>비교</a:t>
            </a:r>
            <a:endParaRPr dirty="0"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EB1D4747-21AB-6242-2990-2270C3F8946F}"/>
              </a:ext>
            </a:extLst>
          </p:cNvPr>
          <p:cNvSpPr/>
          <p:nvPr/>
        </p:nvSpPr>
        <p:spPr>
          <a:xfrm>
            <a:off x="6293815" y="1371600"/>
            <a:ext cx="5166360" cy="459671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CAFA5D0F-42EE-2B7C-F53D-1A84BEDEA9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4589368"/>
              </p:ext>
            </p:extLst>
          </p:nvPr>
        </p:nvGraphicFramePr>
        <p:xfrm>
          <a:off x="6746087" y="2249352"/>
          <a:ext cx="4261815" cy="2841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7B947BF2-BA29-A23E-F42F-364362842FAA}"/>
              </a:ext>
            </a:extLst>
          </p:cNvPr>
          <p:cNvSpPr/>
          <p:nvPr/>
        </p:nvSpPr>
        <p:spPr>
          <a:xfrm>
            <a:off x="731520" y="1371600"/>
            <a:ext cx="5166360" cy="459671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차트 7">
            <a:extLst>
              <a:ext uri="{FF2B5EF4-FFF2-40B4-BE49-F238E27FC236}">
                <a16:creationId xmlns:a16="http://schemas.microsoft.com/office/drawing/2014/main" id="{8777E1B2-9DE3-BCCE-F812-E5A09CF686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9682421"/>
              </p:ext>
            </p:extLst>
          </p:nvPr>
        </p:nvGraphicFramePr>
        <p:xfrm>
          <a:off x="1183792" y="2249352"/>
          <a:ext cx="4261815" cy="2841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74862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ple SD Gothic Neo"/>
              </a:defRPr>
            </a:pPr>
            <a:r>
              <a:t>04.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dirty="0"/>
              <a:t>05</a:t>
            </a:r>
            <a:r>
              <a:rPr lang="ko-KR" altLang="en-US" dirty="0"/>
              <a:t> 추가 분석</a:t>
            </a:r>
            <a:r>
              <a:rPr lang="en-US" altLang="ko-KR" dirty="0"/>
              <a:t>:</a:t>
            </a:r>
            <a:r>
              <a:rPr dirty="0"/>
              <a:t> </a:t>
            </a:r>
            <a:r>
              <a:rPr dirty="0" err="1"/>
              <a:t>추론</a:t>
            </a:r>
            <a:r>
              <a:rPr dirty="0"/>
              <a:t> </a:t>
            </a:r>
            <a:r>
              <a:rPr dirty="0" err="1"/>
              <a:t>공격</a:t>
            </a:r>
            <a:r>
              <a:rPr dirty="0"/>
              <a:t> </a:t>
            </a:r>
            <a:r>
              <a:rPr dirty="0" err="1"/>
              <a:t>시뮬레이션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대응</a:t>
            </a:r>
            <a:r>
              <a:rPr dirty="0"/>
              <a:t> </a:t>
            </a:r>
            <a:r>
              <a:rPr dirty="0" err="1"/>
              <a:t>전략</a:t>
            </a:r>
            <a:endParaRPr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8C8A7B6-8A6E-7B14-C4AB-9823C05A1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816" y="1645921"/>
            <a:ext cx="8338367" cy="461772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3565ECF-473D-2E1A-CAEC-118DAE53B189}"/>
              </a:ext>
            </a:extLst>
          </p:cNvPr>
          <p:cNvSpPr txBox="1"/>
          <p:nvPr/>
        </p:nvSpPr>
        <p:spPr>
          <a:xfrm>
            <a:off x="731520" y="1143000"/>
            <a:ext cx="572789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sz="1600" dirty="0" err="1">
                <a:latin typeface="+mn-ea"/>
              </a:rPr>
              <a:t>추론</a:t>
            </a:r>
            <a:r>
              <a:rPr sz="1600" dirty="0">
                <a:latin typeface="+mn-ea"/>
              </a:rPr>
              <a:t> </a:t>
            </a:r>
            <a:r>
              <a:rPr sz="1600" dirty="0" err="1">
                <a:latin typeface="+mn-ea"/>
              </a:rPr>
              <a:t>공격</a:t>
            </a:r>
            <a:r>
              <a:rPr sz="1600" dirty="0">
                <a:latin typeface="+mn-ea"/>
              </a:rPr>
              <a:t> </a:t>
            </a:r>
            <a:r>
              <a:rPr sz="1600" dirty="0" err="1">
                <a:latin typeface="+mn-ea"/>
              </a:rPr>
              <a:t>시뮬레이션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데이터베이스 전체 유출 가정</a:t>
            </a:r>
            <a:r>
              <a:rPr lang="en-US" altLang="ko-KR" sz="1600" dirty="0">
                <a:latin typeface="+mn-ea"/>
              </a:rPr>
              <a:t>)</a:t>
            </a:r>
            <a:endParaRPr sz="1600" dirty="0">
              <a:latin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8CB336-484F-6B78-7073-7AD2D3926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F40026-78E9-018C-CF0E-92C6C390E329}"/>
              </a:ext>
            </a:extLst>
          </p:cNvPr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ple SD Gothic Neo"/>
              </a:defRPr>
            </a:pPr>
            <a:r>
              <a:t>04.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8C9E4-3F54-1A1A-F688-55366EAD7845}"/>
              </a:ext>
            </a:extLst>
          </p:cNvPr>
          <p:cNvSpPr txBox="1"/>
          <p:nvPr/>
        </p:nvSpPr>
        <p:spPr>
          <a:xfrm>
            <a:off x="731520" y="594360"/>
            <a:ext cx="10728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dirty="0"/>
              <a:t>05</a:t>
            </a:r>
            <a:r>
              <a:rPr lang="ko-KR" altLang="en-US" dirty="0"/>
              <a:t> 추가 분석 </a:t>
            </a:r>
            <a:r>
              <a:rPr lang="en-US" altLang="ko-KR" dirty="0"/>
              <a:t>:</a:t>
            </a:r>
            <a:r>
              <a:rPr dirty="0"/>
              <a:t> </a:t>
            </a:r>
            <a:r>
              <a:rPr dirty="0" err="1"/>
              <a:t>추론</a:t>
            </a:r>
            <a:r>
              <a:rPr dirty="0"/>
              <a:t> </a:t>
            </a:r>
            <a:r>
              <a:rPr dirty="0" err="1"/>
              <a:t>공격</a:t>
            </a:r>
            <a:r>
              <a:rPr dirty="0"/>
              <a:t> </a:t>
            </a:r>
            <a:r>
              <a:rPr dirty="0" err="1"/>
              <a:t>시뮬레이션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대응</a:t>
            </a:r>
            <a:r>
              <a:rPr dirty="0"/>
              <a:t> </a:t>
            </a:r>
            <a:r>
              <a:rPr dirty="0" err="1"/>
              <a:t>전략</a:t>
            </a:r>
            <a:endParaRPr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0908469-875B-C901-D888-A3D1679C2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608" y="1254369"/>
            <a:ext cx="6654477" cy="523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45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01CC66-EF18-4AE2-B175-17F689215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11AAE8-E7AB-D597-C3A5-D08359B7B62E}"/>
              </a:ext>
            </a:extLst>
          </p:cNvPr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ple SD Gothic Neo"/>
              </a:defRPr>
            </a:pPr>
            <a:r>
              <a:t>04.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9D692E-369F-F917-AFA0-1550A3C50BC3}"/>
              </a:ext>
            </a:extLst>
          </p:cNvPr>
          <p:cNvSpPr txBox="1"/>
          <p:nvPr/>
        </p:nvSpPr>
        <p:spPr>
          <a:xfrm>
            <a:off x="731520" y="594360"/>
            <a:ext cx="10728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dirty="0"/>
              <a:t>05</a:t>
            </a:r>
            <a:r>
              <a:rPr lang="ko-KR" altLang="en-US" dirty="0"/>
              <a:t> 추가 분석</a:t>
            </a:r>
            <a:r>
              <a:rPr lang="en-US" altLang="ko-KR" dirty="0"/>
              <a:t>:</a:t>
            </a:r>
            <a:r>
              <a:rPr dirty="0"/>
              <a:t> </a:t>
            </a:r>
            <a:r>
              <a:rPr dirty="0" err="1"/>
              <a:t>추론</a:t>
            </a:r>
            <a:r>
              <a:rPr dirty="0"/>
              <a:t> </a:t>
            </a:r>
            <a:r>
              <a:rPr dirty="0" err="1"/>
              <a:t>공격</a:t>
            </a:r>
            <a:r>
              <a:rPr dirty="0"/>
              <a:t> </a:t>
            </a:r>
            <a:r>
              <a:rPr dirty="0" err="1"/>
              <a:t>시뮬레이션</a:t>
            </a:r>
            <a:r>
              <a:rPr dirty="0"/>
              <a:t> </a:t>
            </a:r>
            <a:r>
              <a:rPr dirty="0" err="1"/>
              <a:t>및</a:t>
            </a:r>
            <a:r>
              <a:rPr dirty="0"/>
              <a:t> </a:t>
            </a:r>
            <a:r>
              <a:rPr dirty="0" err="1"/>
              <a:t>대응</a:t>
            </a:r>
            <a:r>
              <a:rPr dirty="0"/>
              <a:t> </a:t>
            </a:r>
            <a:r>
              <a:rPr dirty="0" err="1"/>
              <a:t>전략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BE4A0-03E9-3BB0-EFE1-317CB14FB7FF}"/>
              </a:ext>
            </a:extLst>
          </p:cNvPr>
          <p:cNvSpPr txBox="1"/>
          <p:nvPr/>
        </p:nvSpPr>
        <p:spPr>
          <a:xfrm>
            <a:off x="762000" y="1515891"/>
            <a:ext cx="5990492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sz="2000" dirty="0" err="1">
                <a:latin typeface="+mn-ea"/>
              </a:rPr>
              <a:t>보안</a:t>
            </a:r>
            <a:r>
              <a:rPr sz="2000" dirty="0">
                <a:latin typeface="+mn-ea"/>
              </a:rPr>
              <a:t> </a:t>
            </a:r>
            <a:r>
              <a:rPr sz="2000" dirty="0" err="1">
                <a:latin typeface="+mn-ea"/>
              </a:rPr>
              <a:t>완화</a:t>
            </a:r>
            <a:r>
              <a:rPr sz="2000" dirty="0">
                <a:latin typeface="+mn-ea"/>
              </a:rPr>
              <a:t> </a:t>
            </a:r>
            <a:r>
              <a:rPr sz="2000" dirty="0" err="1">
                <a:latin typeface="+mn-ea"/>
              </a:rPr>
              <a:t>전략</a:t>
            </a:r>
            <a:r>
              <a:rPr lang="ko-KR" altLang="en-US" sz="2000" dirty="0">
                <a:latin typeface="+mn-ea"/>
              </a:rPr>
              <a:t> 및 시스템적 트레이드오프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A1B07-3AFA-13F7-A139-FC7E0D1109DC}"/>
              </a:ext>
            </a:extLst>
          </p:cNvPr>
          <p:cNvSpPr txBox="1"/>
          <p:nvPr/>
        </p:nvSpPr>
        <p:spPr>
          <a:xfrm>
            <a:off x="761999" y="2697966"/>
            <a:ext cx="10574215" cy="1462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sz="1600" b="1" dirty="0" err="1">
                <a:solidFill>
                  <a:srgbClr val="22D3EE"/>
                </a:solidFill>
                <a:latin typeface="+mn-ea"/>
              </a:rPr>
              <a:t>더미</a:t>
            </a:r>
            <a:r>
              <a:rPr sz="1600" b="1" dirty="0">
                <a:solidFill>
                  <a:srgbClr val="22D3EE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2D3EE"/>
                </a:solidFill>
                <a:latin typeface="+mn-ea"/>
              </a:rPr>
              <a:t>데이터</a:t>
            </a:r>
            <a:r>
              <a:rPr sz="1600" b="1" dirty="0">
                <a:solidFill>
                  <a:srgbClr val="22D3EE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2D3EE"/>
                </a:solidFill>
                <a:latin typeface="+mn-ea"/>
              </a:rPr>
              <a:t>주입</a:t>
            </a:r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: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 별도의 필터링 로직이 필요</a:t>
            </a:r>
            <a:endParaRPr sz="1600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lang="en-US" sz="1600" b="1" dirty="0">
                <a:solidFill>
                  <a:srgbClr val="22D3EE"/>
                </a:solidFill>
                <a:latin typeface="+mn-ea"/>
              </a:rPr>
              <a:t>MPC</a:t>
            </a:r>
            <a:r>
              <a:rPr lang="en-US" altLang="ko-KR" sz="1600" b="1" dirty="0">
                <a:solidFill>
                  <a:srgbClr val="22D3EE"/>
                </a:solidFill>
                <a:latin typeface="+mn-ea"/>
              </a:rPr>
              <a:t>(Multi-Party Computation)</a:t>
            </a:r>
            <a:r>
              <a:rPr lang="ko-KR" altLang="en-US" sz="1600" b="1" dirty="0">
                <a:solidFill>
                  <a:srgbClr val="22D3EE"/>
                </a:solidFill>
                <a:latin typeface="+mn-ea"/>
              </a:rPr>
              <a:t> 프로토콜을 통한 암호화 키 분산</a:t>
            </a:r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: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 분산 컴퓨팅의 오버헤드</a:t>
            </a:r>
            <a:endParaRPr sz="1600" dirty="0">
              <a:solidFill>
                <a:schemeClr val="bg1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200">
                <a:solidFill>
                  <a:srgbClr val="F8FAFC"/>
                </a:solidFill>
                <a:latin typeface="Apple SD Gothic Neo"/>
              </a:defRPr>
            </a:pPr>
            <a:r>
              <a:rPr sz="1600" b="1" dirty="0" err="1">
                <a:solidFill>
                  <a:srgbClr val="22D3EE"/>
                </a:solidFill>
                <a:latin typeface="+mn-ea"/>
              </a:rPr>
              <a:t>결과적</a:t>
            </a:r>
            <a:r>
              <a:rPr sz="1600" b="1" dirty="0">
                <a:solidFill>
                  <a:srgbClr val="22D3EE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2D3EE"/>
                </a:solidFill>
                <a:latin typeface="+mn-ea"/>
              </a:rPr>
              <a:t>타협</a:t>
            </a:r>
            <a:r>
              <a:rPr sz="1600" b="1" dirty="0">
                <a:solidFill>
                  <a:srgbClr val="22D3EE"/>
                </a:solidFill>
                <a:latin typeface="+mn-ea"/>
              </a:rPr>
              <a:t>:</a:t>
            </a:r>
            <a:r>
              <a:rPr lang="en-US" sz="1600" b="1" dirty="0">
                <a:solidFill>
                  <a:srgbClr val="22D3EE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이러한 방법들은 각각의 한계가 존재하므로 시스템을 보완하는 전략 정도로만 소개</a:t>
            </a:r>
            <a:endParaRPr sz="1600" dirty="0">
              <a:solidFill>
                <a:srgbClr val="F8FAFC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63210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18CF8"/>
                </a:solidFill>
                <a:latin typeface="Apple SD Gothic Neo"/>
              </a:defRPr>
            </a:pPr>
            <a:r>
              <a:t>05.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pple SD Gothic Neo"/>
              </a:defRPr>
            </a:pPr>
            <a:r>
              <a:rPr lang="en-US" altLang="ko-KR" dirty="0"/>
              <a:t>06</a:t>
            </a:r>
            <a:r>
              <a:rPr lang="ko-KR" altLang="en-US" dirty="0"/>
              <a:t> 결론</a:t>
            </a:r>
            <a:endParaRPr dirty="0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D1246F93-9160-8F36-FC32-34CAA9D7AAAD}"/>
              </a:ext>
            </a:extLst>
          </p:cNvPr>
          <p:cNvSpPr/>
          <p:nvPr/>
        </p:nvSpPr>
        <p:spPr>
          <a:xfrm>
            <a:off x="960120" y="2129742"/>
            <a:ext cx="2789498" cy="1183511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DD77BF-E7DB-97A8-EAE7-55E7C89BA32F}"/>
              </a:ext>
            </a:extLst>
          </p:cNvPr>
          <p:cNvSpPr txBox="1"/>
          <p:nvPr/>
        </p:nvSpPr>
        <p:spPr>
          <a:xfrm>
            <a:off x="1166884" y="2510734"/>
            <a:ext cx="2375971" cy="42152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600" dirty="0">
                <a:solidFill>
                  <a:schemeClr val="bg1"/>
                </a:solidFill>
              </a:rPr>
              <a:t>데이터 최소화 원칙 실현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AAF4AE-335A-1DFC-153B-63AB5FCD6333}"/>
              </a:ext>
            </a:extLst>
          </p:cNvPr>
          <p:cNvSpPr txBox="1"/>
          <p:nvPr/>
        </p:nvSpPr>
        <p:spPr>
          <a:xfrm>
            <a:off x="960120" y="1547161"/>
            <a:ext cx="4709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sz="2000" dirty="0" err="1">
                <a:latin typeface="+mn-ea"/>
              </a:rPr>
              <a:t>학술적</a:t>
            </a:r>
            <a:r>
              <a:rPr sz="2000" dirty="0">
                <a:latin typeface="+mn-ea"/>
              </a:rPr>
              <a:t>/</a:t>
            </a:r>
            <a:r>
              <a:rPr sz="2000" dirty="0" err="1">
                <a:latin typeface="+mn-ea"/>
              </a:rPr>
              <a:t>실용적</a:t>
            </a:r>
            <a:r>
              <a:rPr sz="2000" dirty="0">
                <a:latin typeface="+mn-ea"/>
              </a:rPr>
              <a:t> </a:t>
            </a:r>
            <a:r>
              <a:rPr sz="2000" dirty="0" err="1">
                <a:latin typeface="+mn-ea"/>
              </a:rPr>
              <a:t>의의</a:t>
            </a:r>
            <a:endParaRPr sz="2000" dirty="0">
              <a:latin typeface="+mn-ea"/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B8997FD-DBC4-601D-0453-A9732D357710}"/>
              </a:ext>
            </a:extLst>
          </p:cNvPr>
          <p:cNvSpPr/>
          <p:nvPr/>
        </p:nvSpPr>
        <p:spPr>
          <a:xfrm>
            <a:off x="4087214" y="2129742"/>
            <a:ext cx="2789498" cy="1183511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28B2DF-F936-9890-9827-57B7163F4C38}"/>
              </a:ext>
            </a:extLst>
          </p:cNvPr>
          <p:cNvSpPr txBox="1"/>
          <p:nvPr/>
        </p:nvSpPr>
        <p:spPr>
          <a:xfrm>
            <a:off x="4522406" y="2326068"/>
            <a:ext cx="1919116" cy="79085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600" dirty="0">
                <a:solidFill>
                  <a:schemeClr val="bg1"/>
                </a:solidFill>
              </a:rPr>
              <a:t>실시간 증명 생성의</a:t>
            </a:r>
            <a:endParaRPr kumimoji="1" lang="en-US" altLang="ko-KR" sz="16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ko-KR" altLang="en-US" sz="1600" dirty="0">
                <a:solidFill>
                  <a:schemeClr val="bg1"/>
                </a:solidFill>
              </a:rPr>
              <a:t>병목 제거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220CA24C-9A81-66C4-2CA0-694F1DC9898A}"/>
              </a:ext>
            </a:extLst>
          </p:cNvPr>
          <p:cNvSpPr/>
          <p:nvPr/>
        </p:nvSpPr>
        <p:spPr>
          <a:xfrm>
            <a:off x="7214308" y="2129742"/>
            <a:ext cx="2789498" cy="1183511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2F2225-31EF-3676-3764-84E958AC4B68}"/>
              </a:ext>
            </a:extLst>
          </p:cNvPr>
          <p:cNvSpPr txBox="1"/>
          <p:nvPr/>
        </p:nvSpPr>
        <p:spPr>
          <a:xfrm>
            <a:off x="7649501" y="2326068"/>
            <a:ext cx="1919116" cy="79085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600" dirty="0">
                <a:solidFill>
                  <a:schemeClr val="bg1"/>
                </a:solidFill>
              </a:rPr>
              <a:t>프라이버시와</a:t>
            </a:r>
            <a:endParaRPr kumimoji="1" lang="en-US" altLang="ko-KR" sz="1600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ko-KR" altLang="en-US" sz="1600" dirty="0">
                <a:solidFill>
                  <a:schemeClr val="bg1"/>
                </a:solidFill>
              </a:rPr>
              <a:t>검색 가능성의 절충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17D37D-4C57-06B6-ABBB-623100A83FED}"/>
              </a:ext>
            </a:extLst>
          </p:cNvPr>
          <p:cNvSpPr txBox="1"/>
          <p:nvPr/>
        </p:nvSpPr>
        <p:spPr>
          <a:xfrm>
            <a:off x="960120" y="3509579"/>
            <a:ext cx="4709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Apple SD Gothic Neo"/>
              </a:defRPr>
            </a:pPr>
            <a:r>
              <a:rPr lang="ko-KR" altLang="en-US" sz="2000" dirty="0">
                <a:latin typeface="+mn-ea"/>
              </a:rPr>
              <a:t>한계와 향후 과제</a:t>
            </a:r>
            <a:endParaRPr sz="2000" dirty="0">
              <a:latin typeface="+mn-ea"/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197330F8-251B-30B1-D45B-03918DC6ED32}"/>
              </a:ext>
            </a:extLst>
          </p:cNvPr>
          <p:cNvSpPr/>
          <p:nvPr/>
        </p:nvSpPr>
        <p:spPr>
          <a:xfrm>
            <a:off x="960120" y="4087479"/>
            <a:ext cx="2789498" cy="802518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A22C93-FE9E-6FE3-956B-13C9BE6A5578}"/>
              </a:ext>
            </a:extLst>
          </p:cNvPr>
          <p:cNvSpPr txBox="1"/>
          <p:nvPr/>
        </p:nvSpPr>
        <p:spPr>
          <a:xfrm>
            <a:off x="1269476" y="4257708"/>
            <a:ext cx="2170787" cy="42152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600" dirty="0">
                <a:solidFill>
                  <a:schemeClr val="bg1"/>
                </a:solidFill>
              </a:rPr>
              <a:t>소유권 정보 유출 위험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95DF73-59A2-FCC7-648A-29FB20105D39}"/>
              </a:ext>
            </a:extLst>
          </p:cNvPr>
          <p:cNvSpPr txBox="1"/>
          <p:nvPr/>
        </p:nvSpPr>
        <p:spPr>
          <a:xfrm>
            <a:off x="4522406" y="5481496"/>
            <a:ext cx="1919116" cy="42152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600" b="1" dirty="0">
                <a:solidFill>
                  <a:schemeClr val="accent6">
                    <a:lumMod val="75000"/>
                  </a:schemeClr>
                </a:solidFill>
              </a:rPr>
              <a:t>제로 트러스트 지향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072601EB-5460-2BD1-E990-44E06ECE4DDA}"/>
              </a:ext>
            </a:extLst>
          </p:cNvPr>
          <p:cNvSpPr/>
          <p:nvPr/>
        </p:nvSpPr>
        <p:spPr>
          <a:xfrm>
            <a:off x="4058974" y="4087479"/>
            <a:ext cx="2789498" cy="802518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F3CBBD-58E1-C145-7D52-C3C9FA0D2337}"/>
              </a:ext>
            </a:extLst>
          </p:cNvPr>
          <p:cNvSpPr txBox="1"/>
          <p:nvPr/>
        </p:nvSpPr>
        <p:spPr>
          <a:xfrm>
            <a:off x="4596760" y="4257708"/>
            <a:ext cx="1713932" cy="42152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600" dirty="0" err="1">
                <a:solidFill>
                  <a:schemeClr val="bg1"/>
                </a:solidFill>
              </a:rPr>
              <a:t>반신뢰</a:t>
            </a:r>
            <a:r>
              <a:rPr kumimoji="1" lang="ko-KR" altLang="en-US" sz="1600" dirty="0">
                <a:solidFill>
                  <a:schemeClr val="bg1"/>
                </a:solidFill>
              </a:rPr>
              <a:t> 서버 가정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C7BA5C1C-C75B-AFB4-3981-63C420AF216F}"/>
              </a:ext>
            </a:extLst>
          </p:cNvPr>
          <p:cNvSpPr/>
          <p:nvPr/>
        </p:nvSpPr>
        <p:spPr>
          <a:xfrm>
            <a:off x="7214308" y="4087479"/>
            <a:ext cx="2789498" cy="802518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9BFC21-155D-308B-C9D1-F725514B26B4}"/>
              </a:ext>
            </a:extLst>
          </p:cNvPr>
          <p:cNvSpPr txBox="1"/>
          <p:nvPr/>
        </p:nvSpPr>
        <p:spPr>
          <a:xfrm>
            <a:off x="7752095" y="4257708"/>
            <a:ext cx="1713932" cy="42152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600" dirty="0">
                <a:solidFill>
                  <a:schemeClr val="bg1"/>
                </a:solidFill>
              </a:rPr>
              <a:t>범위 증명에 한정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F56AD7-9932-D394-0451-A736D1570FAC}"/>
              </a:ext>
            </a:extLst>
          </p:cNvPr>
          <p:cNvSpPr txBox="1"/>
          <p:nvPr/>
        </p:nvSpPr>
        <p:spPr>
          <a:xfrm>
            <a:off x="7397831" y="5466354"/>
            <a:ext cx="2422459" cy="42146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600" b="1" dirty="0">
                <a:solidFill>
                  <a:schemeClr val="accent6">
                    <a:lumMod val="75000"/>
                  </a:schemeClr>
                </a:solidFill>
              </a:rPr>
              <a:t>더 많은 유형의 증명 지원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B9DF2B-22B1-BEF3-FC2C-D5AA8962DF2A}"/>
              </a:ext>
            </a:extLst>
          </p:cNvPr>
          <p:cNvSpPr txBox="1"/>
          <p:nvPr/>
        </p:nvSpPr>
        <p:spPr>
          <a:xfrm>
            <a:off x="1292719" y="5466354"/>
            <a:ext cx="2124299" cy="79278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ko-KR" altLang="en-US" sz="1600" b="1" dirty="0">
                <a:solidFill>
                  <a:schemeClr val="accent6">
                    <a:lumMod val="75000"/>
                  </a:schemeClr>
                </a:solidFill>
              </a:rPr>
              <a:t>원문을 저장하지 않는</a:t>
            </a:r>
            <a:endParaRPr kumimoji="1" lang="en-US" altLang="ko-KR" sz="16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kumimoji="1" lang="ko-KR" altLang="en-US" sz="1600" b="1" dirty="0">
                <a:solidFill>
                  <a:schemeClr val="accent6">
                    <a:lumMod val="75000"/>
                  </a:schemeClr>
                </a:solidFill>
              </a:rPr>
              <a:t>소유권 증명 방법</a:t>
            </a:r>
          </a:p>
        </p:txBody>
      </p:sp>
      <p:sp>
        <p:nvSpPr>
          <p:cNvPr id="28" name="아래쪽 화살표[D] 27">
            <a:extLst>
              <a:ext uri="{FF2B5EF4-FFF2-40B4-BE49-F238E27FC236}">
                <a16:creationId xmlns:a16="http://schemas.microsoft.com/office/drawing/2014/main" id="{F31997EE-9ED8-C248-D436-ECD102C3C7D2}"/>
              </a:ext>
            </a:extLst>
          </p:cNvPr>
          <p:cNvSpPr/>
          <p:nvPr/>
        </p:nvSpPr>
        <p:spPr>
          <a:xfrm>
            <a:off x="2244908" y="5051482"/>
            <a:ext cx="219919" cy="408217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아래쪽 화살표[D] 28">
            <a:extLst>
              <a:ext uri="{FF2B5EF4-FFF2-40B4-BE49-F238E27FC236}">
                <a16:creationId xmlns:a16="http://schemas.microsoft.com/office/drawing/2014/main" id="{18B9F0AB-2F61-E831-C8E4-88A246123EEC}"/>
              </a:ext>
            </a:extLst>
          </p:cNvPr>
          <p:cNvSpPr/>
          <p:nvPr/>
        </p:nvSpPr>
        <p:spPr>
          <a:xfrm>
            <a:off x="5343763" y="5051481"/>
            <a:ext cx="219919" cy="408217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아래쪽 화살표[D] 29">
            <a:extLst>
              <a:ext uri="{FF2B5EF4-FFF2-40B4-BE49-F238E27FC236}">
                <a16:creationId xmlns:a16="http://schemas.microsoft.com/office/drawing/2014/main" id="{C47CD11C-9289-9EA9-0165-E47A65AFAE15}"/>
              </a:ext>
            </a:extLst>
          </p:cNvPr>
          <p:cNvSpPr/>
          <p:nvPr/>
        </p:nvSpPr>
        <p:spPr>
          <a:xfrm>
            <a:off x="8499097" y="5051480"/>
            <a:ext cx="219919" cy="408217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BD7903-A401-09AF-843E-C375E5DD5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C8F291-137A-A8D4-B5CA-76DB9A3CC525}"/>
              </a:ext>
            </a:extLst>
          </p:cNvPr>
          <p:cNvSpPr txBox="1"/>
          <p:nvPr/>
        </p:nvSpPr>
        <p:spPr>
          <a:xfrm>
            <a:off x="653143" y="5415148"/>
            <a:ext cx="3938899" cy="7834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>
                <a:solidFill>
                  <a:schemeClr val="bg1"/>
                </a:solidFill>
                <a:latin typeface="+mn-ea"/>
              </a:rPr>
              <a:t>특허 출원 번호</a:t>
            </a:r>
            <a:r>
              <a:rPr kumimoji="1" lang="en-US" altLang="ko-KR" sz="1600" dirty="0">
                <a:solidFill>
                  <a:schemeClr val="bg1"/>
                </a:solidFill>
                <a:latin typeface="+mn-ea"/>
              </a:rPr>
              <a:t>:</a:t>
            </a:r>
            <a:r>
              <a:rPr kumimoji="1" lang="ko-KR" altLang="en-US" sz="1600" dirty="0">
                <a:solidFill>
                  <a:schemeClr val="bg1"/>
                </a:solidFill>
                <a:latin typeface="+mn-ea"/>
              </a:rPr>
              <a:t> </a:t>
            </a:r>
            <a:r>
              <a:rPr kumimoji="1" lang="en-US" altLang="ko-KR" sz="1600" dirty="0">
                <a:solidFill>
                  <a:schemeClr val="bg1"/>
                </a:solidFill>
                <a:latin typeface="+mn-ea"/>
              </a:rPr>
              <a:t>10-2025-0196078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ko-KR" altLang="en-US" sz="1600" dirty="0" err="1">
                <a:solidFill>
                  <a:schemeClr val="bg1"/>
                </a:solidFill>
                <a:latin typeface="+mn-ea"/>
              </a:rPr>
              <a:t>정보과학회논문지</a:t>
            </a:r>
            <a:r>
              <a:rPr kumimoji="1" lang="en-US" altLang="ko-KR" sz="1600" dirty="0">
                <a:solidFill>
                  <a:schemeClr val="bg1"/>
                </a:solidFill>
                <a:latin typeface="+mn-ea"/>
              </a:rPr>
              <a:t>(JOK)</a:t>
            </a:r>
            <a:r>
              <a:rPr kumimoji="1" lang="ko-KR" altLang="en-US" sz="1600" dirty="0">
                <a:solidFill>
                  <a:schemeClr val="bg1"/>
                </a:solidFill>
                <a:latin typeface="+mn-ea"/>
              </a:rPr>
              <a:t> 투고</a:t>
            </a:r>
            <a:r>
              <a:rPr kumimoji="1" lang="en-US" altLang="ko-KR" sz="1600" dirty="0">
                <a:solidFill>
                  <a:schemeClr val="bg1"/>
                </a:solidFill>
                <a:latin typeface="+mn-ea"/>
              </a:rPr>
              <a:t>,</a:t>
            </a:r>
            <a:r>
              <a:rPr kumimoji="1" lang="ko-KR" altLang="en-US" sz="1600" dirty="0">
                <a:solidFill>
                  <a:schemeClr val="bg1"/>
                </a:solidFill>
                <a:latin typeface="+mn-ea"/>
              </a:rPr>
              <a:t> 심사 중</a:t>
            </a:r>
            <a:endParaRPr kumimoji="1" lang="en-US" altLang="ko-KR" sz="1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7576D-AAF0-A9EA-1F33-5C757D3B08D0}"/>
              </a:ext>
            </a:extLst>
          </p:cNvPr>
          <p:cNvSpPr txBox="1"/>
          <p:nvPr/>
        </p:nvSpPr>
        <p:spPr>
          <a:xfrm>
            <a:off x="4464784" y="3013501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4800" b="1" dirty="0">
                <a:solidFill>
                  <a:srgbClr val="23D3EE"/>
                </a:solidFill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960465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2218</TotalTime>
  <Words>1167</Words>
  <Application>Microsoft Macintosh PowerPoint</Application>
  <PresentationFormat>와이드스크린</PresentationFormat>
  <Paragraphs>248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황보 진우</cp:lastModifiedBy>
  <cp:revision>16</cp:revision>
  <dcterms:created xsi:type="dcterms:W3CDTF">2013-01-27T09:14:16Z</dcterms:created>
  <dcterms:modified xsi:type="dcterms:W3CDTF">2026-06-15T15:10:04Z</dcterms:modified>
  <cp:category/>
</cp:coreProperties>
</file>